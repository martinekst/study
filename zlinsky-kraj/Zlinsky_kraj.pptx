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2d125145-194f-9699-1aad-d484838c1840}">
          <p14:sldIdLst>
            <p14:sldId id="256"/>
          </p14:sldIdLst>
        </p14:section>
        <p14:section name="Základní informace a příroda" id="{3b28d28f-1fe1-e3b9-16bb-8cea9c8d4be7}">
          <p14:sldIdLst>
            <p14:sldId id="257"/>
            <p14:sldId id="258"/>
            <p14:sldId id="259"/>
            <p14:sldId id="260"/>
          </p14:sldIdLst>
        </p14:section>
        <p14:section name="Historie, architektura a kultura" id="{ce10d3ec-aea8-50f4-7b6f-c221c119b052}">
          <p14:sldIdLst>
            <p14:sldId id="261"/>
            <p14:sldId id="262"/>
            <p14:sldId id="263"/>
            <p14:sldId id="264"/>
            <p14:sldId id="265"/>
          </p14:sldIdLst>
        </p14:section>
        <p14:section name="Turistika a sport" id="{12069a40-85c1-a4a8-f92c-bf78dfbe8022}">
          <p14:sldIdLst>
            <p14:sldId id="266"/>
            <p14:sldId id="267"/>
            <p14:sldId id="268"/>
            <p14:sldId id="269"/>
          </p14:sldIdLst>
        </p14:section>
        <p14:section name="Závěr a zdroje" id="{2e8e0c17-fa7d-183c-e74a-10a7b2c5a2e7}">
          <p14:sldIdLst>
            <p14:sldId id="270"/>
            <p14:sldId id="271"/>
          </p14:sldIdLst>
        </p14:section>
        <p14:section name="Kvíz" id="{e62444cb-ec76-ab46-02b1-a624764819f5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B) Zlín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C) Beskydy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B) Baťa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A) Morava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B) Zámek Kroměříž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A) Svatý Hostýn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C) 4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B) Zoo Zlín-Lešná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A) Čertův mlýn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Správná odpověď: C) Zlínský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/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s-CZ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Uvodni-snime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Nadpis-a-obsah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va-obsahy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Zahlavi-oddilu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Otazka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64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cs-CZ" sz="66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cs-CZ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cs-CZ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cs-CZ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 a obsah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cs-CZ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cs-CZ" sz="24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cs-CZ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va obsahy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cs-CZ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5257800" cy="5120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cs-CZ" sz="20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cs-CZ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55080" y="1371600"/>
            <a:ext cx="5257800" cy="5120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cs-CZ" sz="20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cs-CZ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hlaví oddílu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cs-CZ" sz="48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cs-CZ" sz="4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tázk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cs-CZ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200"/>
              </a:spcAft>
              <a:buNone/>
              <a:defRPr lang="cs-CZ" sz="32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1200"/>
              </a:spcAft>
              <a:buNone/>
            </a:pPr>
            <a:endParaRPr lang="cs-CZ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zlinskykraj.cz" TargetMode="External"/><Relationship Id="rId2" Type="http://schemas.openxmlformats.org/officeDocument/2006/relationships/hyperlink" Target="https://csu.gov.cz" TargetMode="External"/><Relationship Id="rId3" Type="http://schemas.openxmlformats.org/officeDocument/2006/relationships/hyperlink" Target="https://www.batacanal.cz" TargetMode="External"/><Relationship Id="rId4" Type="http://schemas.openxmlformats.org/officeDocument/2006/relationships/hyperlink" Target="https://www.kudyznudy.cz" TargetMode="External"/><Relationship Id="rId5" Type="http://schemas.openxmlformats.org/officeDocument/2006/relationships/hyperlink" Target="https://www.zoozlin.eu" TargetMode="External"/><Relationship Id="rId6" Type="http://schemas.openxmlformats.org/officeDocument/2006/relationships/hyperlink" Target="https://www.unesco-czech.cz" TargetMode="Externa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cs-CZ" sz="6600" b="1" dirty="0">
                <a:solidFill>
                  <a:schemeClr val="tx1"/>
                </a:solidFill>
                <a:effectLst>
                  <a:glow rad="152400">
                    <a:srgbClr val="FFFFFF">
                      <a:alpha val="85000"/>
                    </a:srgbClr>
                  </a:glow>
                </a:effectLst>
              </a:rPr>
              <a:t>Zlínský kraj</a:t>
            </a:r>
            <a:endParaRPr lang="cs-CZ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cs-CZ" sz="3000" dirty="0">
                <a:solidFill>
                  <a:schemeClr val="tx1"/>
                </a:solidFill>
                <a:effectLst>
                  <a:glow rad="127000">
                    <a:srgbClr val="FFFFFF">
                      <a:alpha val="85000"/>
                    </a:srgbClr>
                  </a:glow>
                </a:effectLst>
              </a:rPr>
              <a:t>Prezentace</a:t>
            </a:r>
            <a:endParaRPr lang="cs-CZ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Základní informace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Kraj se nachází na východě České republiky.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Sousedí se Slovenskem a s kraji Olomouckým, Moravskoslezským a Jihomoravským.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Krajské město: Zlín (75 tis. obyvatel)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Vznik kraje: 1. ledna 2000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Rozloha: 3 963 km²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Počet obyvatel: přibližně 578 000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Počet okresů: 4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Další velká města: Kroměříž (28 tis.), Vsetín (25 tis.), Uherské Hradiště (24 tis.)</a:t>
            </a:r>
            <a:endParaRPr lang="cs-CZ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Povrch a pohoří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Kraj je převážně kopcovitý a hornatý.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Nachází se zde pohoří: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Beskydy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Javorníky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Bílé Karpaty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Chřiby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Nejvyšší bod kraje: Čertův mlýn (1 206 m n. m.) v Beskydech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Významné chráněné oblasti: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CHKO Bílé Karpaty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CHKO Beskydy</a:t>
            </a:r>
            <a:endParaRPr lang="cs-CZ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Vodstvo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Nejvýznamnější řeka: Morava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Další řeky: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Bečva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Dřevnice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Olšava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Rusava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Významné vodní nádrže: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Vodní nádrž Bystřička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Vodní nádrž Ludkovice</a:t>
            </a:r>
            <a:endParaRPr lang="cs-CZ" sz="2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Vodní nádrž Karolinka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Většina území patří do povodí Dunaje.</a:t>
            </a:r>
            <a:endParaRPr lang="cs-CZ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Hospodářství a historie kraje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5257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400" b="1" dirty="0">
                <a:solidFill>
                  <a:schemeClr val="tx1"/>
                </a:solidFill>
              </a:rPr>
              <a:t>Hospodářství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Strojírenství – výroba strojů, kovových součástek a průmyslových zařízení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Gumárenský průmysl – výroba pneumatik, pryžových výrobků a technické gumy (Barum Continental Otrokovice)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Potravinářství – výroba pečiva, masných výrobků, nápojů, paštik a kečupů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Zemědělství a vinařství (Slovácko) – obiloviny a víno</a:t>
            </a:r>
            <a:endParaRPr lang="cs-CZ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55080" y="1371600"/>
            <a:ext cx="5257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400" b="1" dirty="0">
                <a:solidFill>
                  <a:schemeClr val="tx1"/>
                </a:solidFill>
              </a:rPr>
              <a:t>Historie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Oblast byla osídlena již v pravěku.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Významné období Velké Moravy.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Rozvoj průmyslu ve 20. století díky firmě Baťa.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000" dirty="0">
                <a:solidFill>
                  <a:schemeClr val="tx1"/>
                </a:solidFill>
              </a:rPr>
              <a:t>Zlín se stal symbolem moderní architektury a podnikání.</a:t>
            </a:r>
            <a:endParaRPr lang="cs-CZ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cs-CZ" sz="4800" b="1" dirty="0">
                <a:solidFill>
                  <a:schemeClr val="tx1"/>
                </a:solidFill>
              </a:rPr>
              <a:t>Historie, architektura a kultura</a:t>
            </a:r>
            <a:endParaRPr lang="cs-CZ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Historie kraje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400" b="1" dirty="0">
                <a:solidFill>
                  <a:schemeClr val="tx1"/>
                </a:solidFill>
              </a:rPr>
              <a:t>Zajímavosti z historie: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Centrum Velkomoravské říše ve Starém Městě a okolí.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Významná poutní místa Velehrad a Hostýn.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Rozvoj obuvnického průmyslu ve Zlíně.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Firma Baťa se stala světově známou značkou.</a:t>
            </a:r>
            <a:endParaRPr lang="cs-CZ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Architektura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Baťův mrakodrap (budova 21) – 1938, pojízdný výtah jako kancelář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Zámek Kroměříž – barokní památka, UNESCO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Arcibiskupské zahrady v Kroměříži – Květná a Podzámecká zahrada, UNESCO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Historické centrum Uherského Hradiště – založeno Přemyslem Otakarem II. ve 13. st.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Valašské muzeum v Rožnově pod Radhoštěm</a:t>
            </a:r>
            <a:endParaRPr lang="cs-CZ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Kulturní dědictví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Valašsko a Slovácko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Lidové kroje – bohatě zdobené kroje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Cimbálová muzika – cimbál, housle a kontrabas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Jízda králů (UNESCO) – král projíždí na koni obcí se svou družinou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Vinařské slavnosti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Folklorní festivaly</a:t>
            </a:r>
            <a:endParaRPr lang="cs-CZ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Památky UNESCO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400" b="1" dirty="0">
                <a:solidFill>
                  <a:schemeClr val="tx1"/>
                </a:solidFill>
              </a:rPr>
              <a:t>Světové dědictví UNESCO: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Arcibiskupský zámek Kroměříž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Podzámecká zahrada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Květná zahrada</a:t>
            </a:r>
            <a:endParaRPr lang="cs-CZ" sz="2400" dirty="0"/>
          </a:p>
          <a:p>
            <a:pPr indent="0" marL="0">
              <a:spcAft>
                <a:spcPts val="600"/>
              </a:spcAft>
              <a:buNone/>
            </a:pPr>
            <a:endParaRPr lang="cs-CZ" sz="2400" dirty="0"/>
          </a:p>
          <a:p>
            <a:pPr indent="0" marL="0">
              <a:spcAft>
                <a:spcPts val="600"/>
              </a:spcAft>
              <a:buNone/>
            </a:pPr>
            <a:r>
              <a:rPr lang="cs-CZ" sz="2400" dirty="0">
                <a:solidFill>
                  <a:schemeClr val="tx1"/>
                </a:solidFill>
              </a:rPr>
              <a:t>Tyto památky patří mezi nejvýznamnější historické objekty České republiky.</a:t>
            </a:r>
            <a:endParaRPr lang="cs-CZ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cs-CZ" sz="4800" b="1" dirty="0">
                <a:solidFill>
                  <a:schemeClr val="tx1"/>
                </a:solidFill>
              </a:rPr>
              <a:t>Turistika a sport</a:t>
            </a:r>
            <a:endParaRPr lang="cs-CZ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Turistické atrakce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Velehrad – poutní místo spojené s Cyrilem a Metodějem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Svatý Hostýn – poutní místo s bazilikou a křížovou cestou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Baťův kanál – vodní cesta mezi Otrokovicemi a Hodonínem (60 km)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Zoo Zlín-Lešná – zoologická zahrada se zámkem, nejnavštěvovanější místo kraje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Rožnov pod Radhoštěm – Valašské muzeum v přírodě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Pustevny – horské turistické středisko, lanová dráha, stezka Valaška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Kroměříž – arcibiskupský zámek a zahrady (UNESCO)</a:t>
            </a:r>
            <a:endParaRPr lang="cs-CZ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Sport ve Zlínském kraji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5257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400" b="1" dirty="0">
                <a:solidFill>
                  <a:schemeClr val="tx1"/>
                </a:solidFill>
              </a:rPr>
              <a:t>Sportovní kluby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FC Zlín (fotbal)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Berani Zlín (hokej)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FC Slovácko (fotbal)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VHK Vsetín (hokej)</a:t>
            </a:r>
            <a:endParaRPr lang="cs-CZ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55080" y="1371600"/>
            <a:ext cx="5257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400" b="1" dirty="0">
                <a:solidFill>
                  <a:schemeClr val="tx1"/>
                </a:solidFill>
              </a:rPr>
              <a:t>Oblíbené sporty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Fotbal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Hokej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Cyklistika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Turistika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Lyžování v Beskydech</a:t>
            </a:r>
            <a:endParaRPr lang="cs-CZ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Významné akce ve Zlínském kraji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5257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000" b="1" dirty="0">
                <a:solidFill>
                  <a:schemeClr val="tx1"/>
                </a:solidFill>
              </a:rPr>
              <a:t>🎬 Zlín Film Festival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Nejstarší a největší filmový festival pro děti a mládež na světě.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Koná se každoročně ve Zlíně.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Navštěvují ho tisíce diváků z Česka i zahraničí.</a:t>
            </a:r>
            <a:endParaRPr lang="cs-CZ" sz="2000" dirty="0"/>
          </a:p>
          <a:p>
            <a:pPr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cs-CZ" sz="2000" b="1" dirty="0">
                <a:solidFill>
                  <a:schemeClr val="tx1"/>
                </a:solidFill>
              </a:rPr>
              <a:t>🏎️ Barum Czech Rally Zlín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Jeden z nejvýznamnějších automobilových závodů v České republice.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Součást mistrovství Evropy v rally.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Každoročně přivádí do Zlína špičkové evropské jezdce.</a:t>
            </a:r>
            <a:endParaRPr lang="cs-CZ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55080" y="1371600"/>
            <a:ext cx="5257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000" b="1" dirty="0">
                <a:solidFill>
                  <a:schemeClr val="tx1"/>
                </a:solidFill>
              </a:rPr>
              <a:t>🍷 Slovácké slavnosti vína a otevřených památek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Konají se v Uherském Hradišti.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Přehlídka folkloru, krojů, hudby a vinařských tradic.</a:t>
            </a:r>
            <a:endParaRPr lang="cs-CZ" sz="2000" dirty="0"/>
          </a:p>
          <a:p>
            <a:pPr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cs-CZ" sz="2000" b="1" dirty="0">
                <a:solidFill>
                  <a:schemeClr val="tx1"/>
                </a:solidFill>
              </a:rPr>
              <a:t>👑 Jízda králů ve Vlčnově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Tradiční slovácký obyčej zapsaný na seznamu UNESCO.</a:t>
            </a:r>
            <a:endParaRPr lang="cs-CZ" sz="2000" dirty="0"/>
          </a:p>
          <a:p>
            <a:pPr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cs-CZ" sz="2000" b="1" dirty="0">
                <a:solidFill>
                  <a:schemeClr val="tx1"/>
                </a:solidFill>
              </a:rPr>
              <a:t>⛪ Národní pouť na Velehradě</a:t>
            </a:r>
            <a:endParaRPr lang="cs-CZ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1800" dirty="0">
                <a:solidFill>
                  <a:schemeClr val="tx1"/>
                </a:solidFill>
              </a:rPr>
              <a:t>Koná se každý rok 5. července (Dny lidí dobré vůle).</a:t>
            </a:r>
            <a:endParaRPr lang="cs-CZ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Závěr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400" b="1" dirty="0">
                <a:solidFill>
                  <a:schemeClr val="tx1"/>
                </a:solidFill>
              </a:rPr>
              <a:t>Shrnutí: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Zlínský kraj leží na východě ČR.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Má bohatou historii spojenou s Velkou Moravou a firmou Baťa.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Nabízí krásnou přírodu Beskyd, Javorníků a Bílých Karpat.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Je významný svou kulturou, folklorem a tradicemi.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400" dirty="0">
                <a:solidFill>
                  <a:schemeClr val="tx1"/>
                </a:solidFill>
              </a:rPr>
              <a:t>Patří mezi atraktivní turistické oblasti České republiky.</a:t>
            </a:r>
            <a:endParaRPr lang="cs-CZ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Zdroje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Oficiální stránky Zlínského kraje: </a:t>
            </a:r>
            <a:r>
              <a:rPr lang="cs-CZ" sz="2200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https://zlinskykraj.cz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Český statistický úřad (ČSÚ): </a:t>
            </a:r>
            <a:r>
              <a:rPr lang="cs-CZ" sz="22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https://csu.gov.cz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Baťův kanál: </a:t>
            </a:r>
            <a:r>
              <a:rPr lang="cs-CZ" sz="2200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https://www.batacanal.cz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Kudy z nudy: </a:t>
            </a:r>
            <a:r>
              <a:rPr lang="cs-CZ" sz="2200" u="sng" dirty="0">
                <a:solidFill>
                  <a:schemeClr val="tx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https://www.kudyznudy.cz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Zoo Zlín-Lešná: </a:t>
            </a:r>
            <a:r>
              <a:rPr lang="cs-CZ" sz="2200" u="sng" dirty="0">
                <a:solidFill>
                  <a:schemeClr val="tx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https://www.zoozlin.eu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UNESCO ČR: </a:t>
            </a:r>
            <a:r>
              <a:rPr lang="cs-CZ" sz="2200" u="sng" dirty="0">
                <a:solidFill>
                  <a:schemeClr val="tx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https://www.unesco-czech.cz</a:t>
            </a:r>
            <a:endParaRPr lang="cs-CZ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cs-CZ" sz="2200" dirty="0">
                <a:solidFill>
                  <a:schemeClr val="tx1"/>
                </a:solidFill>
              </a:rPr>
              <a:t>Fotografie na pozadí: Baťův mrakodrap (budova 21) ve Zlíně</a:t>
            </a:r>
            <a:endParaRPr lang="cs-CZ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Kvíz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10607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800" dirty="0">
                <a:solidFill>
                  <a:schemeClr val="tx1"/>
                </a:solidFill>
              </a:rPr>
              <a:t>10 otázek – vždy je správně jen jedna odpověď (A, B, nebo C).</a:t>
            </a:r>
            <a:endParaRPr lang="cs-CZ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1. Jaké je krajské město Zlínského kraje?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Kroměříž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Zlín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Vsetín</a:t>
            </a:r>
            <a:endParaRPr lang="cs-CZ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2. Jaké je nejvyšší pohoří kraje?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Javorníky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Bílé Karpaty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Beskydy</a:t>
            </a:r>
            <a:endParaRPr lang="cs-CZ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3. Která firma proslavila Zlín?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Škoda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Baťa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Tatra</a:t>
            </a:r>
            <a:endParaRPr lang="cs-CZ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4. Která řeka protéká krajem?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Morava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Labe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Vltava</a:t>
            </a:r>
            <a:endParaRPr lang="cs-CZ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5. Která památka UNESCO se nachází v kraji?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Karlštejn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Zámek Kroměříž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Hluboká</a:t>
            </a:r>
            <a:endParaRPr lang="cs-CZ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6. Jaké turistické místo je známé poutěmi?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Svatý Hostýn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Praděd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Ještěd</a:t>
            </a:r>
            <a:endParaRPr lang="cs-CZ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7. Kolik okresů má Zlínský kraj?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2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3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4</a:t>
            </a:r>
            <a:endParaRPr lang="cs-CZ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8. Která turistická atrakce ve Zlínském kraji je známá jako jedna z nejkrásnějších zoologických zahrad v České republice?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Zoo Dvůr Králové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Zoo Zlín-Lešná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Zoo Praha</a:t>
            </a:r>
            <a:endParaRPr lang="cs-CZ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9. Jak se jmenuje nejvyšší bod Zlínského kraje?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Čertův mlýn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Lysá hora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Velký Javorník</a:t>
            </a:r>
            <a:endParaRPr lang="cs-CZ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cs-CZ" sz="3200" b="1" dirty="0">
                <a:solidFill>
                  <a:schemeClr val="tx1"/>
                </a:solidFill>
              </a:rPr>
              <a:t>10. Který kraj České republiky leží celý na historickém území Moravy?</a:t>
            </a:r>
            <a:endParaRPr lang="cs-CZ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860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A) Jihomoravský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B) Olomoucký</a:t>
            </a:r>
            <a:endParaRPr lang="cs-CZ" sz="3200" dirty="0"/>
          </a:p>
          <a:p>
            <a:pPr indent="0" marL="0">
              <a:spcAft>
                <a:spcPts val="1200"/>
              </a:spcAft>
              <a:buNone/>
            </a:pPr>
            <a:r>
              <a:rPr lang="cs-CZ" sz="3200" dirty="0">
                <a:solidFill>
                  <a:schemeClr val="tx1"/>
                </a:solidFill>
              </a:rPr>
              <a:t>C) Zlínský</a:t>
            </a:r>
            <a:endParaRPr lang="cs-CZ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cs-CZ" sz="4000" b="1" dirty="0">
                <a:solidFill>
                  <a:schemeClr val="tx1"/>
                </a:solidFill>
              </a:rPr>
              <a:t>Správné odpovědi</a:t>
            </a:r>
            <a:endParaRPr lang="cs-CZ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371600"/>
            <a:ext cx="5257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1. B) Zlín</a:t>
            </a:r>
            <a:endParaRPr lang="cs-CZ" sz="2000" dirty="0"/>
          </a:p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2. C) Beskydy</a:t>
            </a:r>
            <a:endParaRPr lang="cs-CZ" sz="2000" dirty="0"/>
          </a:p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3. B) Baťa</a:t>
            </a:r>
            <a:endParaRPr lang="cs-CZ" sz="2000" dirty="0"/>
          </a:p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4. A) Morava</a:t>
            </a:r>
            <a:endParaRPr lang="cs-CZ" sz="2000" dirty="0"/>
          </a:p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5. B) Zámek Kroměříž</a:t>
            </a:r>
            <a:endParaRPr lang="cs-CZ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55080" y="1371600"/>
            <a:ext cx="5257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6. A) Svatý Hostýn</a:t>
            </a:r>
            <a:endParaRPr lang="cs-CZ" sz="2000" dirty="0"/>
          </a:p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7. C) 4 okresy</a:t>
            </a:r>
            <a:endParaRPr lang="cs-CZ" sz="2000" dirty="0"/>
          </a:p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8. B) Zoo Zlín-Lešná</a:t>
            </a:r>
            <a:endParaRPr lang="cs-CZ" sz="2000" dirty="0"/>
          </a:p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9. A) Čertův mlýn</a:t>
            </a:r>
            <a:endParaRPr lang="cs-CZ" sz="2000" dirty="0"/>
          </a:p>
          <a:p>
            <a:pPr indent="0" marL="0">
              <a:spcAft>
                <a:spcPts val="600"/>
              </a:spcAft>
              <a:buNone/>
            </a:pPr>
            <a:r>
              <a:rPr lang="cs-CZ" sz="2600" dirty="0">
                <a:solidFill>
                  <a:schemeClr val="tx1"/>
                </a:solidFill>
              </a:rPr>
              <a:t>10. C) Zlínský</a:t>
            </a:r>
            <a:endParaRPr lang="cs-CZ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línský kraj">
  <a:themeElements>
    <a:clrScheme name="Zlínský kraj">
      <a:dk1>
        <a:srgbClr val="1A1A1A"/>
      </a:dk1>
      <a:lt1>
        <a:srgbClr val="FFFFFF"/>
      </a:lt1>
      <a:dk2>
        <a:srgbClr val="1A1A1A"/>
      </a:dk2>
      <a:lt2>
        <a:srgbClr val="F2F2F2"/>
      </a:lt2>
      <a:accent1>
        <a:srgbClr val="A63A24"/>
      </a:accent1>
      <a:accent2>
        <a:srgbClr val="2F6FA8"/>
      </a:accent2>
      <a:accent3>
        <a:srgbClr val="3B8B3E"/>
      </a:accent3>
      <a:accent4>
        <a:srgbClr val="D9A21B"/>
      </a:accent4>
      <a:accent5>
        <a:srgbClr val="7A4B2A"/>
      </a:accent5>
      <a:accent6>
        <a:srgbClr val="6B7B83"/>
      </a:accent6>
      <a:hlink>
        <a:srgbClr val="1F5FA8"/>
      </a:hlink>
      <a:folHlink>
        <a:srgbClr val="7A4B2A"/>
      </a:folHlink>
    </a:clrScheme>
    <a:fontScheme name="Zlínský kraj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Zlínský kraj</dc:title>
  <dc:subject>Prezentace o Zlínském kraji</dc:subject>
  <dc:creator>PptxGenJS</dc:creator>
  <cp:lastModifiedBy>PptxGenJS</cp:lastModifiedBy>
  <cp:revision>1</cp:revision>
  <dcterms:created xsi:type="dcterms:W3CDTF">2026-10-04T13:32:52Z</dcterms:created>
  <dcterms:modified xsi:type="dcterms:W3CDTF">2026-10-04T13:32:52Z</dcterms:modified>
</cp:coreProperties>
</file>