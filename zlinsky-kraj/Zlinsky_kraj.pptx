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Úvod" id="{470f97a5-c734-237a-a91a-0039a6672d3d}">
          <p14:sldIdLst>
            <p14:sldId id="256"/>
          </p14:sldIdLst>
        </p14:section>
        <p14:section name="Základní informace a příroda" id="{21da80a0-d7e6-0adb-2c71-f0a12a92a424}">
          <p14:sldIdLst>
            <p14:sldId id="257"/>
            <p14:sldId id="258"/>
            <p14:sldId id="259"/>
            <p14:sldId id="260"/>
          </p14:sldIdLst>
        </p14:section>
        <p14:section name="Historie, architektura a kultura" id="{b2974201-ce92-4afd-e699-132f33b72827}">
          <p14:sldIdLst>
            <p14:sldId id="261"/>
            <p14:sldId id="262"/>
            <p14:sldId id="263"/>
            <p14:sldId id="264"/>
            <p14:sldId id="265"/>
          </p14:sldIdLst>
        </p14:section>
        <p14:section name="Turistika a sport" id="{7f431713-1a79-1628-6abf-cfedb802caf6}">
          <p14:sldIdLst>
            <p14:sldId id="266"/>
            <p14:sldId id="267"/>
            <p14:sldId id="268"/>
            <p14:sldId id="269"/>
          </p14:sldIdLst>
        </p14:section>
        <p14:section name="Závěr a zdroje" id="{bcb7f425-edb3-0687-7358-d3a608e3bdb9}">
          <p14:sldIdLst>
            <p14:sldId id="270"/>
            <p14:sldId id="271"/>
          </p14:sldIdLst>
        </p14:section>
        <p14:section name="Kvíz" id="{4c1a5326-8e5c-e930-2965-d5febec466ba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/>
            </a:r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s-CZ"/>
              <a:t>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/>
            </a:r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s-CZ"/>
              <a:t>2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/>
            </a:r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s-CZ"/>
              <a:t>3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/>
            </a:r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s-CZ"/>
              <a:t>4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/>
            </a:r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s-CZ"/>
              <a:t>5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/>
            </a:r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s-CZ"/>
              <a:t>6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/>
            </a:r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s-CZ"/>
              <a:t>7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/>
            </a:r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s-CZ"/>
              <a:t>8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/>
            </a:r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s-CZ"/>
              <a:t>9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/>
            </a:r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s-CZ"/>
              <a:t>10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/>
            </a:r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s-CZ"/>
              <a:t>11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/>
            </a:r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s-CZ"/>
              <a:t>12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/>
            </a:r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s-CZ"/>
              <a:t>13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/>
            </a:r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s-CZ"/>
              <a:t>14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/>
            </a:r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s-CZ"/>
              <a:t>15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/>
            </a:r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s-CZ"/>
              <a:t>16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/>
            </a:r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s-CZ"/>
              <a:t>17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Správná odpověď: B) Zlín</a:t>
            </a:r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s-CZ"/>
              <a:t>18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Správná odpověď: C) Beskydy</a:t>
            </a:r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s-CZ"/>
              <a:t>19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Správná odpověď: B) Baťa</a:t>
            </a:r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s-CZ"/>
              <a:t>20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Správná odpověď: A) Morava</a:t>
            </a:r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s-CZ"/>
              <a:t>21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Správná odpověď: B) Zámek Kroměříž</a:t>
            </a:r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s-CZ"/>
              <a:t>22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Správná odpověď: A) Svatý Hostýn</a:t>
            </a:r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s-CZ"/>
              <a:t>23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Správná odpověď: C) 4</a:t>
            </a:r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s-CZ"/>
              <a:t>24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Správná odpověď: B) Zoo Zlín-Lešná</a:t>
            </a:r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s-CZ"/>
              <a:t>25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Správná odpověď: A) Čertův mlýn</a:t>
            </a:r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s-CZ"/>
              <a:t>26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Správná odpověď: C) Zlínský</a:t>
            </a:r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s-CZ"/>
              <a:t>27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/>
            </a:r>
            <a:endParaRPr lang="cs-C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cs-CZ"/>
              <a:t>28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&#218;vodn&#237;-sn&#237;mek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Nadpis-a-obsah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va-obsahy-image-1.jpe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Z&#225;hlav&#237;-odd&#237;lu-image-1.jpe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Ot&#225;zka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Úvodní sníme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642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cs-CZ" sz="6600" b="1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cs-CZ" sz="6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1945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cs-CZ" sz="30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cs-CZ" sz="3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dpis a obsah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cs-CZ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cs-CZ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371600"/>
            <a:ext cx="10607040" cy="5120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600"/>
              </a:spcAft>
              <a:buNone/>
              <a:defRPr lang="cs-CZ" sz="24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600"/>
              </a:spcAft>
              <a:buNone/>
            </a:pPr>
            <a:endParaRPr lang="cs-CZ" sz="2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va obsahy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cs-CZ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cs-CZ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371600"/>
            <a:ext cx="5257800" cy="5120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600"/>
              </a:spcAft>
              <a:buNone/>
              <a:defRPr lang="cs-CZ" sz="20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600"/>
              </a:spcAft>
              <a:buNone/>
            </a:pPr>
            <a:endParaRPr lang="cs-CZ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355080" y="1371600"/>
            <a:ext cx="5257800" cy="5120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600"/>
              </a:spcAft>
              <a:buNone/>
              <a:defRPr lang="cs-CZ" sz="20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600"/>
              </a:spcAft>
              <a:buNone/>
            </a:pPr>
            <a:endParaRPr lang="cs-CZ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áhlaví oddílu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110642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cs-CZ" sz="4800" b="1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cs-CZ" sz="48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tázk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cs-CZ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cs-CZ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286000"/>
            <a:ext cx="10607040" cy="4023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1200"/>
              </a:spcAft>
              <a:buNone/>
              <a:defRPr lang="cs-CZ" sz="32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1200"/>
              </a:spcAft>
              <a:buNone/>
            </a:pPr>
            <a:endParaRPr lang="cs-CZ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zlinskykraj.cz" TargetMode="External"/><Relationship Id="rId2" Type="http://schemas.openxmlformats.org/officeDocument/2006/relationships/hyperlink" Target="https://csu.gov.cz" TargetMode="External"/><Relationship Id="rId3" Type="http://schemas.openxmlformats.org/officeDocument/2006/relationships/hyperlink" Target="https://www.batacanal.cz" TargetMode="External"/><Relationship Id="rId4" Type="http://schemas.openxmlformats.org/officeDocument/2006/relationships/hyperlink" Target="https://www.kudyznudy.cz" TargetMode="External"/><Relationship Id="rId5" Type="http://schemas.openxmlformats.org/officeDocument/2006/relationships/hyperlink" Target="https://www.zoozlin.eu" TargetMode="External"/><Relationship Id="rId6" Type="http://schemas.openxmlformats.org/officeDocument/2006/relationships/hyperlink" Target="https://www.unesco-czech.cz" TargetMode="External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2296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cs-CZ" sz="6600" b="1" dirty="0">
                <a:solidFill>
                  <a:schemeClr val="tx1"/>
                </a:solidFill>
                <a:effectLst>
                  <a:glow rad="152400">
                    <a:srgbClr val="FFFFFF">
                      <a:alpha val="85000"/>
                    </a:srgbClr>
                  </a:glow>
                </a:effectLst>
              </a:rPr>
              <a:t>Zlínský kraj</a:t>
            </a:r>
            <a:endParaRPr lang="cs-CZ" sz="6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1945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cs-CZ" sz="3000" dirty="0">
                <a:solidFill>
                  <a:schemeClr val="tx1"/>
                </a:solidFill>
                <a:effectLst>
                  <a:glow rad="127000">
                    <a:srgbClr val="FFFFFF">
                      <a:alpha val="85000"/>
                    </a:srgbClr>
                  </a:glow>
                </a:effectLst>
              </a:rPr>
              <a:t>Prezentace</a:t>
            </a:r>
            <a:endParaRPr lang="cs-CZ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cs-CZ" sz="4000" b="1" dirty="0">
                <a:solidFill>
                  <a:schemeClr val="tx1"/>
                </a:solidFill>
              </a:rPr>
              <a:t>Základní informace</a:t>
            </a:r>
            <a:endParaRPr lang="cs-CZ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371600"/>
            <a:ext cx="1060704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Kraj se nachází na východě České republiky.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Sousedí se Slovenskem a s kraji Olomouckým, Moravskoslezským a Jihomoravským.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Krajské město: Zlín (75 tis. obyvatel)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Vznik kraje: 1. ledna 2000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Rozloha: 3 963 km²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Počet obyvatel: přibližně 578 000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Počet okresů: 4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Další velká města: Kroměříž (28 tis.), Vsetín (25 tis.), Uherské Hradiště (24 tis.)</a:t>
            </a:r>
            <a:endParaRPr lang="cs-CZ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cs-CZ" sz="4000" b="1" dirty="0">
                <a:solidFill>
                  <a:schemeClr val="tx1"/>
                </a:solidFill>
              </a:rPr>
              <a:t>Povrch a pohoří</a:t>
            </a:r>
            <a:endParaRPr lang="cs-CZ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371600"/>
            <a:ext cx="1060704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Kraj je převážně kopcovitý a hornatý.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Nachází se zde pohoří:</a:t>
            </a:r>
            <a:endParaRPr lang="cs-CZ" sz="2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cs-CZ" sz="2000" dirty="0">
                <a:solidFill>
                  <a:schemeClr val="tx1"/>
                </a:solidFill>
              </a:rPr>
              <a:t>Beskydy</a:t>
            </a:r>
            <a:endParaRPr lang="cs-CZ" sz="2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cs-CZ" sz="2000" dirty="0">
                <a:solidFill>
                  <a:schemeClr val="tx1"/>
                </a:solidFill>
              </a:rPr>
              <a:t>Javorníky</a:t>
            </a:r>
            <a:endParaRPr lang="cs-CZ" sz="2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cs-CZ" sz="2000" dirty="0">
                <a:solidFill>
                  <a:schemeClr val="tx1"/>
                </a:solidFill>
              </a:rPr>
              <a:t>Bílé Karpaty</a:t>
            </a:r>
            <a:endParaRPr lang="cs-CZ" sz="2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cs-CZ" sz="2000" dirty="0">
                <a:solidFill>
                  <a:schemeClr val="tx1"/>
                </a:solidFill>
              </a:rPr>
              <a:t>Chřiby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Nejvyšší bod kraje: Čertův mlýn (1 206 m n. m.) v Beskydech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Významné chráněné oblasti:</a:t>
            </a:r>
            <a:endParaRPr lang="cs-CZ" sz="2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cs-CZ" sz="2000" dirty="0">
                <a:solidFill>
                  <a:schemeClr val="tx1"/>
                </a:solidFill>
              </a:rPr>
              <a:t>CHKO Bílé Karpaty</a:t>
            </a:r>
            <a:endParaRPr lang="cs-CZ" sz="2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cs-CZ" sz="2000" dirty="0">
                <a:solidFill>
                  <a:schemeClr val="tx1"/>
                </a:solidFill>
              </a:rPr>
              <a:t>CHKO Beskydy</a:t>
            </a:r>
            <a:endParaRPr lang="cs-CZ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cs-CZ" sz="4000" b="1" dirty="0">
                <a:solidFill>
                  <a:schemeClr val="tx1"/>
                </a:solidFill>
              </a:rPr>
              <a:t>Vodstvo</a:t>
            </a:r>
            <a:endParaRPr lang="cs-CZ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371600"/>
            <a:ext cx="1060704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Nejvýznamnější řeka: Morava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Další řeky:</a:t>
            </a:r>
            <a:endParaRPr lang="cs-CZ" sz="2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cs-CZ" sz="2000" dirty="0">
                <a:solidFill>
                  <a:schemeClr val="tx1"/>
                </a:solidFill>
              </a:rPr>
              <a:t>Bečva</a:t>
            </a:r>
            <a:endParaRPr lang="cs-CZ" sz="2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cs-CZ" sz="2000" dirty="0">
                <a:solidFill>
                  <a:schemeClr val="tx1"/>
                </a:solidFill>
              </a:rPr>
              <a:t>Dřevnice</a:t>
            </a:r>
            <a:endParaRPr lang="cs-CZ" sz="2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cs-CZ" sz="2000" dirty="0">
                <a:solidFill>
                  <a:schemeClr val="tx1"/>
                </a:solidFill>
              </a:rPr>
              <a:t>Olšava</a:t>
            </a:r>
            <a:endParaRPr lang="cs-CZ" sz="2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cs-CZ" sz="2000" dirty="0">
                <a:solidFill>
                  <a:schemeClr val="tx1"/>
                </a:solidFill>
              </a:rPr>
              <a:t>Rusava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Významné vodní nádrže:</a:t>
            </a:r>
            <a:endParaRPr lang="cs-CZ" sz="2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cs-CZ" sz="2000" dirty="0">
                <a:solidFill>
                  <a:schemeClr val="tx1"/>
                </a:solidFill>
              </a:rPr>
              <a:t>Vodní nádrž Bystřička</a:t>
            </a:r>
            <a:endParaRPr lang="cs-CZ" sz="2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cs-CZ" sz="2000" dirty="0">
                <a:solidFill>
                  <a:schemeClr val="tx1"/>
                </a:solidFill>
              </a:rPr>
              <a:t>Vodní nádrž Ludkovice</a:t>
            </a:r>
            <a:endParaRPr lang="cs-CZ" sz="2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cs-CZ" sz="2000" dirty="0">
                <a:solidFill>
                  <a:schemeClr val="tx1"/>
                </a:solidFill>
              </a:rPr>
              <a:t>Vodní nádrž Karolinka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Většina území patří do povodí Dunaje.</a:t>
            </a:r>
            <a:endParaRPr lang="cs-CZ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cs-CZ" sz="4000" b="1" dirty="0">
                <a:solidFill>
                  <a:schemeClr val="tx1"/>
                </a:solidFill>
              </a:rPr>
              <a:t>Hospodářství a historie kraje</a:t>
            </a:r>
            <a:endParaRPr lang="cs-CZ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371600"/>
            <a:ext cx="52578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cs-CZ" sz="2400" b="1" dirty="0">
                <a:solidFill>
                  <a:schemeClr val="tx1"/>
                </a:solidFill>
              </a:rPr>
              <a:t>Hospodářství</a:t>
            </a:r>
            <a:endParaRPr lang="cs-CZ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000" dirty="0">
                <a:solidFill>
                  <a:schemeClr val="tx1"/>
                </a:solidFill>
              </a:rPr>
              <a:t>Strojírenství – výroba strojů, kovových součástek a průmyslových zařízení</a:t>
            </a:r>
            <a:endParaRPr lang="cs-CZ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000" dirty="0">
                <a:solidFill>
                  <a:schemeClr val="tx1"/>
                </a:solidFill>
              </a:rPr>
              <a:t>Gumárenský průmysl – výroba pneumatik, pryžových výrobků a technické gumy (Barum Continental Otrokovice)</a:t>
            </a:r>
            <a:endParaRPr lang="cs-CZ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000" dirty="0">
                <a:solidFill>
                  <a:schemeClr val="tx1"/>
                </a:solidFill>
              </a:rPr>
              <a:t>Potravinářství – výroba pečiva, masných výrobků, nápojů, paštik a kečupů</a:t>
            </a:r>
            <a:endParaRPr lang="cs-CZ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000" dirty="0">
                <a:solidFill>
                  <a:schemeClr val="tx1"/>
                </a:solidFill>
              </a:rPr>
              <a:t>Zemědělství a vinařství (Slovácko) – obiloviny a víno</a:t>
            </a:r>
            <a:endParaRPr lang="cs-CZ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355080" y="1371600"/>
            <a:ext cx="52578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cs-CZ" sz="2400" b="1" dirty="0">
                <a:solidFill>
                  <a:schemeClr val="tx1"/>
                </a:solidFill>
              </a:rPr>
              <a:t>Historie</a:t>
            </a:r>
            <a:endParaRPr lang="cs-CZ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000" dirty="0">
                <a:solidFill>
                  <a:schemeClr val="tx1"/>
                </a:solidFill>
              </a:rPr>
              <a:t>Oblast byla osídlena již v pravěku.</a:t>
            </a:r>
            <a:endParaRPr lang="cs-CZ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000" dirty="0">
                <a:solidFill>
                  <a:schemeClr val="tx1"/>
                </a:solidFill>
              </a:rPr>
              <a:t>Významné období Velké Moravy.</a:t>
            </a:r>
            <a:endParaRPr lang="cs-CZ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000" dirty="0">
                <a:solidFill>
                  <a:schemeClr val="tx1"/>
                </a:solidFill>
              </a:rPr>
              <a:t>Rozvoj průmyslu ve 20. století díky firmě Baťa.</a:t>
            </a:r>
            <a:endParaRPr lang="cs-CZ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000" dirty="0">
                <a:solidFill>
                  <a:schemeClr val="tx1"/>
                </a:solidFill>
              </a:rPr>
              <a:t>Zlín se stal symbolem moderní architektury a podnikání.</a:t>
            </a:r>
            <a:endParaRPr lang="cs-CZ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cs-CZ" sz="4800" b="1" dirty="0">
                <a:solidFill>
                  <a:schemeClr val="tx1"/>
                </a:solidFill>
              </a:rPr>
              <a:t>Historie, architektura a kultura</a:t>
            </a:r>
            <a:endParaRPr lang="cs-CZ" sz="4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cs-CZ" sz="4000" b="1" dirty="0">
                <a:solidFill>
                  <a:schemeClr val="tx1"/>
                </a:solidFill>
              </a:rPr>
              <a:t>Historie kraje</a:t>
            </a:r>
            <a:endParaRPr lang="cs-CZ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371600"/>
            <a:ext cx="1060704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cs-CZ" sz="2400" b="1" dirty="0">
                <a:solidFill>
                  <a:schemeClr val="tx1"/>
                </a:solidFill>
              </a:rPr>
              <a:t>Zajímavosti z historie: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Centrum Velkomoravské říše ve Starém Městě a okolí.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Významná poutní místa Velehrad a Hostýn.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Rozvoj obuvnického průmyslu ve Zlíně.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Firma Baťa se stala světově známou značkou.</a:t>
            </a:r>
            <a:endParaRPr lang="cs-CZ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cs-CZ" sz="4000" b="1" dirty="0">
                <a:solidFill>
                  <a:schemeClr val="tx1"/>
                </a:solidFill>
              </a:rPr>
              <a:t>Architektura</a:t>
            </a:r>
            <a:endParaRPr lang="cs-CZ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371600"/>
            <a:ext cx="1060704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Baťův mrakodrap (budova 21) – 1938, pojízdný výtah jako kancelář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Zámek Kroměříž – barokní památka, UNESCO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Arcibiskupské zahrady v Kroměříži – Květná a Podzámecká zahrada, UNESCO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Historické centrum Uherského Hradiště – založeno Přemyslem Otakarem II. ve 13. st.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Valašské muzeum v Rožnově pod Radhoštěm</a:t>
            </a:r>
            <a:endParaRPr lang="cs-CZ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cs-CZ" sz="4000" b="1" dirty="0">
                <a:solidFill>
                  <a:schemeClr val="tx1"/>
                </a:solidFill>
              </a:rPr>
              <a:t>Kulturní dědictví</a:t>
            </a:r>
            <a:endParaRPr lang="cs-CZ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371600"/>
            <a:ext cx="1060704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Valašsko a Slovácko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Lidové kroje – bohatě zdobené kroje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Cimbálová muzika – cimbál, housle a kontrabas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Jízda králů (UNESCO) – král projíždí na koni obcí se svou družinou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Vinařské slavnosti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Folklorní festivaly</a:t>
            </a:r>
            <a:endParaRPr lang="cs-CZ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cs-CZ" sz="4000" b="1" dirty="0">
                <a:solidFill>
                  <a:schemeClr val="tx1"/>
                </a:solidFill>
              </a:rPr>
              <a:t>Památky UNESCO</a:t>
            </a:r>
            <a:endParaRPr lang="cs-CZ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371600"/>
            <a:ext cx="1060704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cs-CZ" sz="2400" b="1" dirty="0">
                <a:solidFill>
                  <a:schemeClr val="tx1"/>
                </a:solidFill>
              </a:rPr>
              <a:t>Světové dědictví UNESCO: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Arcibiskupský zámek Kroměříž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Podzámecká zahrada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Květná zahrada</a:t>
            </a:r>
            <a:endParaRPr lang="cs-CZ" sz="2400" dirty="0"/>
          </a:p>
          <a:p>
            <a:pPr indent="0" marL="0">
              <a:spcAft>
                <a:spcPts val="600"/>
              </a:spcAft>
              <a:buNone/>
            </a:pPr>
            <a:endParaRPr lang="cs-CZ" sz="2400" dirty="0"/>
          </a:p>
          <a:p>
            <a:pPr indent="0" marL="0">
              <a:spcAft>
                <a:spcPts val="600"/>
              </a:spcAft>
              <a:buNone/>
            </a:pPr>
            <a:r>
              <a:rPr lang="cs-CZ" sz="2400" dirty="0">
                <a:solidFill>
                  <a:schemeClr val="tx1"/>
                </a:solidFill>
              </a:rPr>
              <a:t>Tyto památky patří mezi nejvýznamnější historické objekty České republiky.</a:t>
            </a:r>
            <a:endParaRPr lang="cs-CZ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cs-CZ" sz="4800" b="1" dirty="0">
                <a:solidFill>
                  <a:schemeClr val="tx1"/>
                </a:solidFill>
              </a:rPr>
              <a:t>Turistika a sport</a:t>
            </a:r>
            <a:endParaRPr lang="cs-CZ" sz="4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cs-CZ" sz="4000" b="1" dirty="0">
                <a:solidFill>
                  <a:schemeClr val="tx1"/>
                </a:solidFill>
              </a:rPr>
              <a:t>Turistické atrakce</a:t>
            </a:r>
            <a:endParaRPr lang="cs-CZ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371600"/>
            <a:ext cx="1060704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200" dirty="0">
                <a:solidFill>
                  <a:schemeClr val="tx1"/>
                </a:solidFill>
              </a:rPr>
              <a:t>Velehrad – poutní místo spojené s Cyrilem a Metodějem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200" dirty="0">
                <a:solidFill>
                  <a:schemeClr val="tx1"/>
                </a:solidFill>
              </a:rPr>
              <a:t>Svatý Hostýn – poutní místo s bazilikou a křížovou cestou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200" dirty="0">
                <a:solidFill>
                  <a:schemeClr val="tx1"/>
                </a:solidFill>
              </a:rPr>
              <a:t>Baťův kanál – vodní cesta mezi Otrokovicemi a Hodonínem (60 km)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200" dirty="0">
                <a:solidFill>
                  <a:schemeClr val="tx1"/>
                </a:solidFill>
              </a:rPr>
              <a:t>Zoo Zlín-Lešná – zoologická zahrada se zámkem, nejnavštěvovanější místo kraje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200" dirty="0">
                <a:solidFill>
                  <a:schemeClr val="tx1"/>
                </a:solidFill>
              </a:rPr>
              <a:t>Rožnov pod Radhoštěm – Valašské muzeum v přírodě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200" dirty="0">
                <a:solidFill>
                  <a:schemeClr val="tx1"/>
                </a:solidFill>
              </a:rPr>
              <a:t>Pustevny – horské turistické středisko, lanová dráha, stezka Valaška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200" dirty="0">
                <a:solidFill>
                  <a:schemeClr val="tx1"/>
                </a:solidFill>
              </a:rPr>
              <a:t>Kroměříž – arcibiskupský zámek a zahrady (UNESCO)</a:t>
            </a:r>
            <a:endParaRPr lang="cs-CZ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cs-CZ" sz="4000" b="1" dirty="0">
                <a:solidFill>
                  <a:schemeClr val="tx1"/>
                </a:solidFill>
              </a:rPr>
              <a:t>Sport ve Zlínském kraji</a:t>
            </a:r>
            <a:endParaRPr lang="cs-CZ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371600"/>
            <a:ext cx="52578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cs-CZ" sz="2400" b="1" dirty="0">
                <a:solidFill>
                  <a:schemeClr val="tx1"/>
                </a:solidFill>
              </a:rPr>
              <a:t>Sportovní kluby</a:t>
            </a:r>
            <a:endParaRPr lang="cs-CZ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FC Zlín (fotbal)</a:t>
            </a:r>
            <a:endParaRPr lang="cs-CZ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Berani Zlín (hokej)</a:t>
            </a:r>
            <a:endParaRPr lang="cs-CZ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FC Slovácko (fotbal)</a:t>
            </a:r>
            <a:endParaRPr lang="cs-CZ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VHK Vsetín (hokej)</a:t>
            </a:r>
            <a:endParaRPr lang="cs-CZ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355080" y="1371600"/>
            <a:ext cx="52578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cs-CZ" sz="2400" b="1" dirty="0">
                <a:solidFill>
                  <a:schemeClr val="tx1"/>
                </a:solidFill>
              </a:rPr>
              <a:t>Oblíbené sporty</a:t>
            </a:r>
            <a:endParaRPr lang="cs-CZ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Fotbal</a:t>
            </a:r>
            <a:endParaRPr lang="cs-CZ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Hokej</a:t>
            </a:r>
            <a:endParaRPr lang="cs-CZ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Cyklistika</a:t>
            </a:r>
            <a:endParaRPr lang="cs-CZ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Turistika</a:t>
            </a:r>
            <a:endParaRPr lang="cs-CZ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Lyžování v Beskydech</a:t>
            </a:r>
            <a:endParaRPr lang="cs-CZ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cs-CZ" sz="4000" b="1" dirty="0">
                <a:solidFill>
                  <a:schemeClr val="tx1"/>
                </a:solidFill>
              </a:rPr>
              <a:t>Významné akce ve Zlínském kraji</a:t>
            </a:r>
            <a:endParaRPr lang="cs-CZ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371600"/>
            <a:ext cx="52578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cs-CZ" sz="2000" b="1" dirty="0">
                <a:solidFill>
                  <a:schemeClr val="tx1"/>
                </a:solidFill>
              </a:rPr>
              <a:t>🎬 Zlín Film Festival</a:t>
            </a:r>
            <a:endParaRPr lang="cs-CZ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1800" dirty="0">
                <a:solidFill>
                  <a:schemeClr val="tx1"/>
                </a:solidFill>
              </a:rPr>
              <a:t>Nejstarší a největší filmový festival pro děti a mládež na světě.</a:t>
            </a:r>
            <a:endParaRPr lang="cs-CZ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1800" dirty="0">
                <a:solidFill>
                  <a:schemeClr val="tx1"/>
                </a:solidFill>
              </a:rPr>
              <a:t>Koná se každoročně ve Zlíně.</a:t>
            </a:r>
            <a:endParaRPr lang="cs-CZ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1800" dirty="0">
                <a:solidFill>
                  <a:schemeClr val="tx1"/>
                </a:solidFill>
              </a:rPr>
              <a:t>Navštěvují ho tisíce diváků z Česka i zahraničí.</a:t>
            </a:r>
            <a:endParaRPr lang="cs-CZ" sz="2000" dirty="0"/>
          </a:p>
          <a:p>
            <a:pPr indent="0" marL="0">
              <a:spcBef>
                <a:spcPts val="1400"/>
              </a:spcBef>
              <a:spcAft>
                <a:spcPts val="600"/>
              </a:spcAft>
              <a:buNone/>
            </a:pPr>
            <a:r>
              <a:rPr lang="cs-CZ" sz="2000" b="1" dirty="0">
                <a:solidFill>
                  <a:schemeClr val="tx1"/>
                </a:solidFill>
              </a:rPr>
              <a:t>🏎️ Barum Czech Rally Zlín</a:t>
            </a:r>
            <a:endParaRPr lang="cs-CZ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1800" dirty="0">
                <a:solidFill>
                  <a:schemeClr val="tx1"/>
                </a:solidFill>
              </a:rPr>
              <a:t>Jeden z nejvýznamnějších automobilových závodů v České republice.</a:t>
            </a:r>
            <a:endParaRPr lang="cs-CZ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1800" dirty="0">
                <a:solidFill>
                  <a:schemeClr val="tx1"/>
                </a:solidFill>
              </a:rPr>
              <a:t>Součást mistrovství Evropy v rally.</a:t>
            </a:r>
            <a:endParaRPr lang="cs-CZ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1800" dirty="0">
                <a:solidFill>
                  <a:schemeClr val="tx1"/>
                </a:solidFill>
              </a:rPr>
              <a:t>Každoročně přivádí do Zlína špičkové evropské jezdce.</a:t>
            </a:r>
            <a:endParaRPr lang="cs-CZ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355080" y="1371600"/>
            <a:ext cx="52578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cs-CZ" sz="2000" b="1" dirty="0">
                <a:solidFill>
                  <a:schemeClr val="tx1"/>
                </a:solidFill>
              </a:rPr>
              <a:t>🍷 Slovácké slavnosti vína a otevřených památek</a:t>
            </a:r>
            <a:endParaRPr lang="cs-CZ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1800" dirty="0">
                <a:solidFill>
                  <a:schemeClr val="tx1"/>
                </a:solidFill>
              </a:rPr>
              <a:t>Konají se v Uherském Hradišti.</a:t>
            </a:r>
            <a:endParaRPr lang="cs-CZ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1800" dirty="0">
                <a:solidFill>
                  <a:schemeClr val="tx1"/>
                </a:solidFill>
              </a:rPr>
              <a:t>Přehlídka folkloru, krojů, hudby a vinařských tradic.</a:t>
            </a:r>
            <a:endParaRPr lang="cs-CZ" sz="2000" dirty="0"/>
          </a:p>
          <a:p>
            <a:pPr indent="0" marL="0">
              <a:spcBef>
                <a:spcPts val="1400"/>
              </a:spcBef>
              <a:spcAft>
                <a:spcPts val="600"/>
              </a:spcAft>
              <a:buNone/>
            </a:pPr>
            <a:r>
              <a:rPr lang="cs-CZ" sz="2000" b="1" dirty="0">
                <a:solidFill>
                  <a:schemeClr val="tx1"/>
                </a:solidFill>
              </a:rPr>
              <a:t>👑 Jízda králů ve Vlčnově</a:t>
            </a:r>
            <a:endParaRPr lang="cs-CZ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1800" dirty="0">
                <a:solidFill>
                  <a:schemeClr val="tx1"/>
                </a:solidFill>
              </a:rPr>
              <a:t>Tradiční slovácký obyčej zapsaný na seznamu UNESCO.</a:t>
            </a:r>
            <a:endParaRPr lang="cs-CZ" sz="2000" dirty="0"/>
          </a:p>
          <a:p>
            <a:pPr indent="0" marL="0">
              <a:spcBef>
                <a:spcPts val="1400"/>
              </a:spcBef>
              <a:spcAft>
                <a:spcPts val="600"/>
              </a:spcAft>
              <a:buNone/>
            </a:pPr>
            <a:r>
              <a:rPr lang="cs-CZ" sz="2000" b="1" dirty="0">
                <a:solidFill>
                  <a:schemeClr val="tx1"/>
                </a:solidFill>
              </a:rPr>
              <a:t>⛪ Národní pouť na Velehradě</a:t>
            </a:r>
            <a:endParaRPr lang="cs-CZ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1800" dirty="0">
                <a:solidFill>
                  <a:schemeClr val="tx1"/>
                </a:solidFill>
              </a:rPr>
              <a:t>Koná se každý rok 5. července (Dny lidí dobré vůle).</a:t>
            </a:r>
            <a:endParaRPr lang="cs-CZ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cs-CZ" sz="4000" b="1" dirty="0">
                <a:solidFill>
                  <a:schemeClr val="tx1"/>
                </a:solidFill>
              </a:rPr>
              <a:t>Závěr</a:t>
            </a:r>
            <a:endParaRPr lang="cs-CZ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371600"/>
            <a:ext cx="1060704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cs-CZ" sz="2400" b="1" dirty="0">
                <a:solidFill>
                  <a:schemeClr val="tx1"/>
                </a:solidFill>
              </a:rPr>
              <a:t>Shrnutí: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Zlínský kraj leží na východě ČR.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Má bohatou historii spojenou s Velkou Moravou a firmou Baťa.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Nabízí krásnou přírodu Beskyd, Javorníků a Bílých Karpat.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Je významný svou kulturou, folklorem a tradicemi.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400" dirty="0">
                <a:solidFill>
                  <a:schemeClr val="tx1"/>
                </a:solidFill>
              </a:rPr>
              <a:t>Patří mezi atraktivní turistické oblasti České republiky.</a:t>
            </a:r>
            <a:endParaRPr lang="cs-CZ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cs-CZ" sz="4000" b="1" dirty="0">
                <a:solidFill>
                  <a:schemeClr val="tx1"/>
                </a:solidFill>
              </a:rPr>
              <a:t>Zdroje</a:t>
            </a:r>
            <a:endParaRPr lang="cs-CZ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371600"/>
            <a:ext cx="1060704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200" dirty="0">
                <a:solidFill>
                  <a:schemeClr val="tx1"/>
                </a:solidFill>
              </a:rPr>
              <a:t>Oficiální stránky Zlínského kraje: </a:t>
            </a:r>
            <a:r>
              <a:rPr lang="cs-CZ" sz="22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https://zlinskykraj.cz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200" dirty="0">
                <a:solidFill>
                  <a:schemeClr val="tx1"/>
                </a:solidFill>
              </a:rPr>
              <a:t>Český statistický úřad (ČSÚ): </a:t>
            </a:r>
            <a:r>
              <a:rPr lang="cs-CZ" sz="2200" u="sng" dirty="0">
                <a:solidFill>
                  <a:schemeClr val="tx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https://csu.gov.cz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200" dirty="0">
                <a:solidFill>
                  <a:schemeClr val="tx1"/>
                </a:solidFill>
              </a:rPr>
              <a:t>Baťův kanál: </a:t>
            </a:r>
            <a:r>
              <a:rPr lang="cs-CZ" sz="2200" u="sng" dirty="0">
                <a:solidFill>
                  <a:schemeClr val="tx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https://www.batacanal.cz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200" dirty="0">
                <a:solidFill>
                  <a:schemeClr val="tx1"/>
                </a:solidFill>
              </a:rPr>
              <a:t>Kudy z nudy: </a:t>
            </a:r>
            <a:r>
              <a:rPr lang="cs-CZ" sz="2200" u="sng" dirty="0">
                <a:solidFill>
                  <a:schemeClr val="tx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https://www.kudyznudy.cz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200" dirty="0">
                <a:solidFill>
                  <a:schemeClr val="tx1"/>
                </a:solidFill>
              </a:rPr>
              <a:t>Zoo Zlín-Lešná: </a:t>
            </a:r>
            <a:r>
              <a:rPr lang="cs-CZ" sz="2200" u="sng" dirty="0">
                <a:solidFill>
                  <a:schemeClr val="tx1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https://www.zoozlin.eu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200" dirty="0">
                <a:solidFill>
                  <a:schemeClr val="tx1"/>
                </a:solidFill>
              </a:rPr>
              <a:t>UNESCO ČR: </a:t>
            </a:r>
            <a:r>
              <a:rPr lang="cs-CZ" sz="2200" u="sng" dirty="0">
                <a:solidFill>
                  <a:schemeClr val="tx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https://www.unesco-czech.cz</a:t>
            </a:r>
            <a:endParaRPr lang="cs-CZ" sz="2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cs-CZ" sz="2200" dirty="0">
                <a:solidFill>
                  <a:schemeClr val="tx1"/>
                </a:solidFill>
              </a:rPr>
              <a:t>Fotografie na pozadí: Baťův mrakodrap (budova 21) ve Zlíně</a:t>
            </a:r>
            <a:endParaRPr lang="cs-CZ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cs-CZ" sz="4000" b="1" dirty="0">
                <a:solidFill>
                  <a:schemeClr val="tx1"/>
                </a:solidFill>
              </a:rPr>
              <a:t>Kvíz</a:t>
            </a:r>
            <a:endParaRPr lang="cs-CZ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371600"/>
            <a:ext cx="1060704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cs-CZ" sz="2800" dirty="0">
                <a:solidFill>
                  <a:schemeClr val="tx1"/>
                </a:solidFill>
              </a:rPr>
              <a:t>10 otázek – vždy je správně jen jedna odpověď (A, B, nebo C).</a:t>
            </a:r>
            <a:endParaRPr lang="cs-CZ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cs-CZ" sz="3200" b="1" dirty="0">
                <a:solidFill>
                  <a:schemeClr val="tx1"/>
                </a:solidFill>
              </a:rPr>
              <a:t>1. Jaké je krajské město Zlínského kraje?</a:t>
            </a:r>
            <a:endParaRPr lang="cs-CZ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286000"/>
            <a:ext cx="10607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cs-CZ" sz="3200" dirty="0">
                <a:solidFill>
                  <a:schemeClr val="tx1"/>
                </a:solidFill>
              </a:rPr>
              <a:t>A) Kroměříž</a:t>
            </a:r>
            <a:endParaRPr lang="cs-CZ" sz="3200" dirty="0"/>
          </a:p>
          <a:p>
            <a:pPr indent="0" marL="0">
              <a:spcAft>
                <a:spcPts val="1200"/>
              </a:spcAft>
              <a:buNone/>
            </a:pPr>
            <a:r>
              <a:rPr lang="cs-CZ" sz="3200" dirty="0">
                <a:solidFill>
                  <a:schemeClr val="tx1"/>
                </a:solidFill>
              </a:rPr>
              <a:t>B) Zlín</a:t>
            </a:r>
            <a:endParaRPr lang="cs-CZ" sz="3200" dirty="0"/>
          </a:p>
          <a:p>
            <a:pPr indent="0" marL="0">
              <a:spcAft>
                <a:spcPts val="1200"/>
              </a:spcAft>
              <a:buNone/>
            </a:pPr>
            <a:r>
              <a:rPr lang="cs-CZ" sz="3200" dirty="0">
                <a:solidFill>
                  <a:schemeClr val="tx1"/>
                </a:solidFill>
              </a:rPr>
              <a:t>C) Vsetín</a:t>
            </a:r>
            <a:endParaRPr lang="cs-CZ" sz="3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cs-CZ" sz="3200" b="1" dirty="0">
                <a:solidFill>
                  <a:schemeClr val="tx1"/>
                </a:solidFill>
              </a:rPr>
              <a:t>2. Jaké je nejvyšší pohoří kraje?</a:t>
            </a:r>
            <a:endParaRPr lang="cs-CZ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286000"/>
            <a:ext cx="10607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cs-CZ" sz="3200" dirty="0">
                <a:solidFill>
                  <a:schemeClr val="tx1"/>
                </a:solidFill>
              </a:rPr>
              <a:t>A) Javorníky</a:t>
            </a:r>
            <a:endParaRPr lang="cs-CZ" sz="3200" dirty="0"/>
          </a:p>
          <a:p>
            <a:pPr indent="0" marL="0">
              <a:spcAft>
                <a:spcPts val="1200"/>
              </a:spcAft>
              <a:buNone/>
            </a:pPr>
            <a:r>
              <a:rPr lang="cs-CZ" sz="3200" dirty="0">
                <a:solidFill>
                  <a:schemeClr val="tx1"/>
                </a:solidFill>
              </a:rPr>
              <a:t>B) Bílé Karpaty</a:t>
            </a:r>
            <a:endParaRPr lang="cs-CZ" sz="3200" dirty="0"/>
          </a:p>
          <a:p>
            <a:pPr indent="0" marL="0">
              <a:spcAft>
                <a:spcPts val="1200"/>
              </a:spcAft>
              <a:buNone/>
            </a:pPr>
            <a:r>
              <a:rPr lang="cs-CZ" sz="3200" dirty="0">
                <a:solidFill>
                  <a:schemeClr val="tx1"/>
                </a:solidFill>
              </a:rPr>
              <a:t>C) Beskydy</a:t>
            </a:r>
            <a:endParaRPr lang="cs-CZ" sz="3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cs-CZ" sz="3200" b="1" dirty="0">
                <a:solidFill>
                  <a:schemeClr val="tx1"/>
                </a:solidFill>
              </a:rPr>
              <a:t>3. Která firma proslavila Zlín?</a:t>
            </a:r>
            <a:endParaRPr lang="cs-CZ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286000"/>
            <a:ext cx="10607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cs-CZ" sz="3200" dirty="0">
                <a:solidFill>
                  <a:schemeClr val="tx1"/>
                </a:solidFill>
              </a:rPr>
              <a:t>A) Škoda</a:t>
            </a:r>
            <a:endParaRPr lang="cs-CZ" sz="3200" dirty="0"/>
          </a:p>
          <a:p>
            <a:pPr indent="0" marL="0">
              <a:spcAft>
                <a:spcPts val="1200"/>
              </a:spcAft>
              <a:buNone/>
            </a:pPr>
            <a:r>
              <a:rPr lang="cs-CZ" sz="3200" dirty="0">
                <a:solidFill>
                  <a:schemeClr val="tx1"/>
                </a:solidFill>
              </a:rPr>
              <a:t>B) Baťa</a:t>
            </a:r>
            <a:endParaRPr lang="cs-CZ" sz="3200" dirty="0"/>
          </a:p>
          <a:p>
            <a:pPr indent="0" marL="0">
              <a:spcAft>
                <a:spcPts val="1200"/>
              </a:spcAft>
              <a:buNone/>
            </a:pPr>
            <a:r>
              <a:rPr lang="cs-CZ" sz="3200" dirty="0">
                <a:solidFill>
                  <a:schemeClr val="tx1"/>
                </a:solidFill>
              </a:rPr>
              <a:t>C) Tatra</a:t>
            </a:r>
            <a:endParaRPr lang="cs-CZ" sz="3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cs-CZ" sz="3200" b="1" dirty="0">
                <a:solidFill>
                  <a:schemeClr val="tx1"/>
                </a:solidFill>
              </a:rPr>
              <a:t>4. Která řeka protéká krajem?</a:t>
            </a:r>
            <a:endParaRPr lang="cs-CZ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286000"/>
            <a:ext cx="10607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cs-CZ" sz="3200" dirty="0">
                <a:solidFill>
                  <a:schemeClr val="tx1"/>
                </a:solidFill>
              </a:rPr>
              <a:t>A) Morava</a:t>
            </a:r>
            <a:endParaRPr lang="cs-CZ" sz="3200" dirty="0"/>
          </a:p>
          <a:p>
            <a:pPr indent="0" marL="0">
              <a:spcAft>
                <a:spcPts val="1200"/>
              </a:spcAft>
              <a:buNone/>
            </a:pPr>
            <a:r>
              <a:rPr lang="cs-CZ" sz="3200" dirty="0">
                <a:solidFill>
                  <a:schemeClr val="tx1"/>
                </a:solidFill>
              </a:rPr>
              <a:t>B) Labe</a:t>
            </a:r>
            <a:endParaRPr lang="cs-CZ" sz="3200" dirty="0"/>
          </a:p>
          <a:p>
            <a:pPr indent="0" marL="0">
              <a:spcAft>
                <a:spcPts val="1200"/>
              </a:spcAft>
              <a:buNone/>
            </a:pPr>
            <a:r>
              <a:rPr lang="cs-CZ" sz="3200" dirty="0">
                <a:solidFill>
                  <a:schemeClr val="tx1"/>
                </a:solidFill>
              </a:rPr>
              <a:t>C) Vltava</a:t>
            </a:r>
            <a:endParaRPr lang="cs-CZ" sz="3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cs-CZ" sz="3200" b="1" dirty="0">
                <a:solidFill>
                  <a:schemeClr val="tx1"/>
                </a:solidFill>
              </a:rPr>
              <a:t>5. Která památka UNESCO se nachází v kraji?</a:t>
            </a:r>
            <a:endParaRPr lang="cs-CZ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286000"/>
            <a:ext cx="10607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cs-CZ" sz="3200" dirty="0">
                <a:solidFill>
                  <a:schemeClr val="tx1"/>
                </a:solidFill>
              </a:rPr>
              <a:t>A) Karlštejn</a:t>
            </a:r>
            <a:endParaRPr lang="cs-CZ" sz="3200" dirty="0"/>
          </a:p>
          <a:p>
            <a:pPr indent="0" marL="0">
              <a:spcAft>
                <a:spcPts val="1200"/>
              </a:spcAft>
              <a:buNone/>
            </a:pPr>
            <a:r>
              <a:rPr lang="cs-CZ" sz="3200" dirty="0">
                <a:solidFill>
                  <a:schemeClr val="tx1"/>
                </a:solidFill>
              </a:rPr>
              <a:t>B) Zámek Kroměříž</a:t>
            </a:r>
            <a:endParaRPr lang="cs-CZ" sz="3200" dirty="0"/>
          </a:p>
          <a:p>
            <a:pPr indent="0" marL="0">
              <a:spcAft>
                <a:spcPts val="1200"/>
              </a:spcAft>
              <a:buNone/>
            </a:pPr>
            <a:r>
              <a:rPr lang="cs-CZ" sz="3200" dirty="0">
                <a:solidFill>
                  <a:schemeClr val="tx1"/>
                </a:solidFill>
              </a:rPr>
              <a:t>C) Hluboká</a:t>
            </a:r>
            <a:endParaRPr lang="cs-CZ" sz="3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cs-CZ" sz="3200" b="1" dirty="0">
                <a:solidFill>
                  <a:schemeClr val="tx1"/>
                </a:solidFill>
              </a:rPr>
              <a:t>6. Jaké turistické místo je známé poutěmi?</a:t>
            </a:r>
            <a:endParaRPr lang="cs-CZ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286000"/>
            <a:ext cx="10607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cs-CZ" sz="3200" dirty="0">
                <a:solidFill>
                  <a:schemeClr val="tx1"/>
                </a:solidFill>
              </a:rPr>
              <a:t>A) Svatý Hostýn</a:t>
            </a:r>
            <a:endParaRPr lang="cs-CZ" sz="3200" dirty="0"/>
          </a:p>
          <a:p>
            <a:pPr indent="0" marL="0">
              <a:spcAft>
                <a:spcPts val="1200"/>
              </a:spcAft>
              <a:buNone/>
            </a:pPr>
            <a:r>
              <a:rPr lang="cs-CZ" sz="3200" dirty="0">
                <a:solidFill>
                  <a:schemeClr val="tx1"/>
                </a:solidFill>
              </a:rPr>
              <a:t>B) Praděd</a:t>
            </a:r>
            <a:endParaRPr lang="cs-CZ" sz="3200" dirty="0"/>
          </a:p>
          <a:p>
            <a:pPr indent="0" marL="0">
              <a:spcAft>
                <a:spcPts val="1200"/>
              </a:spcAft>
              <a:buNone/>
            </a:pPr>
            <a:r>
              <a:rPr lang="cs-CZ" sz="3200" dirty="0">
                <a:solidFill>
                  <a:schemeClr val="tx1"/>
                </a:solidFill>
              </a:rPr>
              <a:t>C) Ještěd</a:t>
            </a:r>
            <a:endParaRPr lang="cs-CZ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cs-CZ" sz="3200" b="1" dirty="0">
                <a:solidFill>
                  <a:schemeClr val="tx1"/>
                </a:solidFill>
              </a:rPr>
              <a:t>7. Kolik okresů má Zlínský kraj?</a:t>
            </a:r>
            <a:endParaRPr lang="cs-CZ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286000"/>
            <a:ext cx="10607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cs-CZ" sz="3200" dirty="0">
                <a:solidFill>
                  <a:schemeClr val="tx1"/>
                </a:solidFill>
              </a:rPr>
              <a:t>A) 2</a:t>
            </a:r>
            <a:endParaRPr lang="cs-CZ" sz="3200" dirty="0"/>
          </a:p>
          <a:p>
            <a:pPr indent="0" marL="0">
              <a:spcAft>
                <a:spcPts val="1200"/>
              </a:spcAft>
              <a:buNone/>
            </a:pPr>
            <a:r>
              <a:rPr lang="cs-CZ" sz="3200" dirty="0">
                <a:solidFill>
                  <a:schemeClr val="tx1"/>
                </a:solidFill>
              </a:rPr>
              <a:t>B) 3</a:t>
            </a:r>
            <a:endParaRPr lang="cs-CZ" sz="3200" dirty="0"/>
          </a:p>
          <a:p>
            <a:pPr indent="0" marL="0">
              <a:spcAft>
                <a:spcPts val="1200"/>
              </a:spcAft>
              <a:buNone/>
            </a:pPr>
            <a:r>
              <a:rPr lang="cs-CZ" sz="3200" dirty="0">
                <a:solidFill>
                  <a:schemeClr val="tx1"/>
                </a:solidFill>
              </a:rPr>
              <a:t>C) 4</a:t>
            </a:r>
            <a:endParaRPr lang="cs-CZ" sz="3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cs-CZ" sz="3200" b="1" dirty="0">
                <a:solidFill>
                  <a:schemeClr val="tx1"/>
                </a:solidFill>
              </a:rPr>
              <a:t>8. Která turistická atrakce ve Zlínském kraji je známá jako jedna z nejkrásnějších zoologických zahrad v České republice?</a:t>
            </a:r>
            <a:endParaRPr lang="cs-CZ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286000"/>
            <a:ext cx="10607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cs-CZ" sz="3200" dirty="0">
                <a:solidFill>
                  <a:schemeClr val="tx1"/>
                </a:solidFill>
              </a:rPr>
              <a:t>A) Zoo Dvůr Králové</a:t>
            </a:r>
            <a:endParaRPr lang="cs-CZ" sz="3200" dirty="0"/>
          </a:p>
          <a:p>
            <a:pPr indent="0" marL="0">
              <a:spcAft>
                <a:spcPts val="1200"/>
              </a:spcAft>
              <a:buNone/>
            </a:pPr>
            <a:r>
              <a:rPr lang="cs-CZ" sz="3200" dirty="0">
                <a:solidFill>
                  <a:schemeClr val="tx1"/>
                </a:solidFill>
              </a:rPr>
              <a:t>B) Zoo Zlín-Lešná</a:t>
            </a:r>
            <a:endParaRPr lang="cs-CZ" sz="3200" dirty="0"/>
          </a:p>
          <a:p>
            <a:pPr indent="0" marL="0">
              <a:spcAft>
                <a:spcPts val="1200"/>
              </a:spcAft>
              <a:buNone/>
            </a:pPr>
            <a:r>
              <a:rPr lang="cs-CZ" sz="3200" dirty="0">
                <a:solidFill>
                  <a:schemeClr val="tx1"/>
                </a:solidFill>
              </a:rPr>
              <a:t>C) Zoo Praha</a:t>
            </a:r>
            <a:endParaRPr lang="cs-CZ" sz="3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cs-CZ" sz="3200" b="1" dirty="0">
                <a:solidFill>
                  <a:schemeClr val="tx1"/>
                </a:solidFill>
              </a:rPr>
              <a:t>9. Jak se jmenuje nejvyšší bod Zlínského kraje?</a:t>
            </a:r>
            <a:endParaRPr lang="cs-CZ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286000"/>
            <a:ext cx="10607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cs-CZ" sz="3200" dirty="0">
                <a:solidFill>
                  <a:schemeClr val="tx1"/>
                </a:solidFill>
              </a:rPr>
              <a:t>A) Čertův mlýn</a:t>
            </a:r>
            <a:endParaRPr lang="cs-CZ" sz="3200" dirty="0"/>
          </a:p>
          <a:p>
            <a:pPr indent="0" marL="0">
              <a:spcAft>
                <a:spcPts val="1200"/>
              </a:spcAft>
              <a:buNone/>
            </a:pPr>
            <a:r>
              <a:rPr lang="cs-CZ" sz="3200" dirty="0">
                <a:solidFill>
                  <a:schemeClr val="tx1"/>
                </a:solidFill>
              </a:rPr>
              <a:t>B) Lysá hora</a:t>
            </a:r>
            <a:endParaRPr lang="cs-CZ" sz="3200" dirty="0"/>
          </a:p>
          <a:p>
            <a:pPr indent="0" marL="0">
              <a:spcAft>
                <a:spcPts val="1200"/>
              </a:spcAft>
              <a:buNone/>
            </a:pPr>
            <a:r>
              <a:rPr lang="cs-CZ" sz="3200" dirty="0">
                <a:solidFill>
                  <a:schemeClr val="tx1"/>
                </a:solidFill>
              </a:rPr>
              <a:t>C) Velký Javorník</a:t>
            </a:r>
            <a:endParaRPr lang="cs-CZ" sz="3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cs-CZ" sz="3200" b="1" dirty="0">
                <a:solidFill>
                  <a:schemeClr val="tx1"/>
                </a:solidFill>
              </a:rPr>
              <a:t>10. Který kraj České republiky leží celý na historickém území Moravy?</a:t>
            </a:r>
            <a:endParaRPr lang="cs-CZ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286000"/>
            <a:ext cx="10607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cs-CZ" sz="3200" dirty="0">
                <a:solidFill>
                  <a:schemeClr val="tx1"/>
                </a:solidFill>
              </a:rPr>
              <a:t>A) Jihomoravský</a:t>
            </a:r>
            <a:endParaRPr lang="cs-CZ" sz="3200" dirty="0"/>
          </a:p>
          <a:p>
            <a:pPr indent="0" marL="0">
              <a:spcAft>
                <a:spcPts val="1200"/>
              </a:spcAft>
              <a:buNone/>
            </a:pPr>
            <a:r>
              <a:rPr lang="cs-CZ" sz="3200" dirty="0">
                <a:solidFill>
                  <a:schemeClr val="tx1"/>
                </a:solidFill>
              </a:rPr>
              <a:t>B) Olomoucký</a:t>
            </a:r>
            <a:endParaRPr lang="cs-CZ" sz="3200" dirty="0"/>
          </a:p>
          <a:p>
            <a:pPr indent="0" marL="0">
              <a:spcAft>
                <a:spcPts val="1200"/>
              </a:spcAft>
              <a:buNone/>
            </a:pPr>
            <a:r>
              <a:rPr lang="cs-CZ" sz="3200" dirty="0">
                <a:solidFill>
                  <a:schemeClr val="tx1"/>
                </a:solidFill>
              </a:rPr>
              <a:t>C) Zlínský</a:t>
            </a:r>
            <a:endParaRPr lang="cs-CZ" sz="3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cs-CZ" sz="4000" b="1" dirty="0">
                <a:solidFill>
                  <a:schemeClr val="tx1"/>
                </a:solidFill>
              </a:rPr>
              <a:t>Správné odpovědi</a:t>
            </a:r>
            <a:endParaRPr lang="cs-CZ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371600"/>
            <a:ext cx="52578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cs-CZ" sz="2600" dirty="0">
                <a:solidFill>
                  <a:schemeClr val="tx1"/>
                </a:solidFill>
              </a:rPr>
              <a:t>1. B) Zlín</a:t>
            </a:r>
            <a:endParaRPr lang="cs-CZ" sz="2000" dirty="0"/>
          </a:p>
          <a:p>
            <a:pPr indent="0" marL="0">
              <a:spcAft>
                <a:spcPts val="600"/>
              </a:spcAft>
              <a:buNone/>
            </a:pPr>
            <a:r>
              <a:rPr lang="cs-CZ" sz="2600" dirty="0">
                <a:solidFill>
                  <a:schemeClr val="tx1"/>
                </a:solidFill>
              </a:rPr>
              <a:t>2. C) Beskydy</a:t>
            </a:r>
            <a:endParaRPr lang="cs-CZ" sz="2000" dirty="0"/>
          </a:p>
          <a:p>
            <a:pPr indent="0" marL="0">
              <a:spcAft>
                <a:spcPts val="600"/>
              </a:spcAft>
              <a:buNone/>
            </a:pPr>
            <a:r>
              <a:rPr lang="cs-CZ" sz="2600" dirty="0">
                <a:solidFill>
                  <a:schemeClr val="tx1"/>
                </a:solidFill>
              </a:rPr>
              <a:t>3. B) Baťa</a:t>
            </a:r>
            <a:endParaRPr lang="cs-CZ" sz="2000" dirty="0"/>
          </a:p>
          <a:p>
            <a:pPr indent="0" marL="0">
              <a:spcAft>
                <a:spcPts val="600"/>
              </a:spcAft>
              <a:buNone/>
            </a:pPr>
            <a:r>
              <a:rPr lang="cs-CZ" sz="2600" dirty="0">
                <a:solidFill>
                  <a:schemeClr val="tx1"/>
                </a:solidFill>
              </a:rPr>
              <a:t>4. A) Morava</a:t>
            </a:r>
            <a:endParaRPr lang="cs-CZ" sz="2000" dirty="0"/>
          </a:p>
          <a:p>
            <a:pPr indent="0" marL="0">
              <a:spcAft>
                <a:spcPts val="600"/>
              </a:spcAft>
              <a:buNone/>
            </a:pPr>
            <a:r>
              <a:rPr lang="cs-CZ" sz="2600" dirty="0">
                <a:solidFill>
                  <a:schemeClr val="tx1"/>
                </a:solidFill>
              </a:rPr>
              <a:t>5. B) Zámek Kroměříž</a:t>
            </a:r>
            <a:endParaRPr lang="cs-CZ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355080" y="1371600"/>
            <a:ext cx="52578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cs-CZ" sz="2600" dirty="0">
                <a:solidFill>
                  <a:schemeClr val="tx1"/>
                </a:solidFill>
              </a:rPr>
              <a:t>6. A) Svatý Hostýn</a:t>
            </a:r>
            <a:endParaRPr lang="cs-CZ" sz="2000" dirty="0"/>
          </a:p>
          <a:p>
            <a:pPr indent="0" marL="0">
              <a:spcAft>
                <a:spcPts val="600"/>
              </a:spcAft>
              <a:buNone/>
            </a:pPr>
            <a:r>
              <a:rPr lang="cs-CZ" sz="2600" dirty="0">
                <a:solidFill>
                  <a:schemeClr val="tx1"/>
                </a:solidFill>
              </a:rPr>
              <a:t>7. C) 4 okresy</a:t>
            </a:r>
            <a:endParaRPr lang="cs-CZ" sz="2000" dirty="0"/>
          </a:p>
          <a:p>
            <a:pPr indent="0" marL="0">
              <a:spcAft>
                <a:spcPts val="600"/>
              </a:spcAft>
              <a:buNone/>
            </a:pPr>
            <a:r>
              <a:rPr lang="cs-CZ" sz="2600" dirty="0">
                <a:solidFill>
                  <a:schemeClr val="tx1"/>
                </a:solidFill>
              </a:rPr>
              <a:t>8. B) Zoo Zlín-Lešná</a:t>
            </a:r>
            <a:endParaRPr lang="cs-CZ" sz="2000" dirty="0"/>
          </a:p>
          <a:p>
            <a:pPr indent="0" marL="0">
              <a:spcAft>
                <a:spcPts val="600"/>
              </a:spcAft>
              <a:buNone/>
            </a:pPr>
            <a:r>
              <a:rPr lang="cs-CZ" sz="2600" dirty="0">
                <a:solidFill>
                  <a:schemeClr val="tx1"/>
                </a:solidFill>
              </a:rPr>
              <a:t>9. A) Čertův mlýn</a:t>
            </a:r>
            <a:endParaRPr lang="cs-CZ" sz="2000" dirty="0"/>
          </a:p>
          <a:p>
            <a:pPr indent="0" marL="0">
              <a:spcAft>
                <a:spcPts val="600"/>
              </a:spcAft>
              <a:buNone/>
            </a:pPr>
            <a:r>
              <a:rPr lang="cs-CZ" sz="2600" dirty="0">
                <a:solidFill>
                  <a:schemeClr val="tx1"/>
                </a:solidFill>
              </a:rPr>
              <a:t>10. C) Zlínský</a:t>
            </a:r>
            <a:endParaRPr lang="cs-CZ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Zlínský kraj">
  <a:themeElements>
    <a:clrScheme name="Zlínský kraj">
      <a:dk1>
        <a:srgbClr val="1A1A1A"/>
      </a:dk1>
      <a:lt1>
        <a:srgbClr val="FFFFFF"/>
      </a:lt1>
      <a:dk2>
        <a:srgbClr val="1A1A1A"/>
      </a:dk2>
      <a:lt2>
        <a:srgbClr val="F2F2F2"/>
      </a:lt2>
      <a:accent1>
        <a:srgbClr val="A63A24"/>
      </a:accent1>
      <a:accent2>
        <a:srgbClr val="2F6FA8"/>
      </a:accent2>
      <a:accent3>
        <a:srgbClr val="3B8B3E"/>
      </a:accent3>
      <a:accent4>
        <a:srgbClr val="D9A21B"/>
      </a:accent4>
      <a:accent5>
        <a:srgbClr val="7A4B2A"/>
      </a:accent5>
      <a:accent6>
        <a:srgbClr val="6B7B83"/>
      </a:accent6>
      <a:hlink>
        <a:srgbClr val="1F5FA8"/>
      </a:hlink>
      <a:folHlink>
        <a:srgbClr val="7A4B2A"/>
      </a:folHlink>
    </a:clrScheme>
    <a:fontScheme name="Zlínský kraj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Zlínský kraj</dc:title>
  <dc:subject>Prezentace o Zlínském kraji</dc:subject>
  <dc:creator>PptxGenJS</dc:creator>
  <cp:lastModifiedBy>PptxGenJS</cp:lastModifiedBy>
  <cp:revision>1</cp:revision>
  <dcterms:created xsi:type="dcterms:W3CDTF">2026-10-04T13:23:07Z</dcterms:created>
  <dcterms:modified xsi:type="dcterms:W3CDTF">2026-10-04T13:23:07Z</dcterms:modified>
</cp:coreProperties>
</file>