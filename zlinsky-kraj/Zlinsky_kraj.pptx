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670de01b-7831-926f-18d9-11cbe43a6b4e}">
          <p14:sldIdLst>
            <p14:sldId id="256"/>
          </p14:sldIdLst>
        </p14:section>
        <p14:section name="Základní informace a příroda" id="{8b112440-1804-24f5-e89d-62271e4bfa74}">
          <p14:sldIdLst>
            <p14:sldId id="257"/>
            <p14:sldId id="258"/>
            <p14:sldId id="259"/>
            <p14:sldId id="260"/>
          </p14:sldIdLst>
        </p14:section>
        <p14:section name="Historie, architektura a kultura" id="{ae57d2f3-ce81-0688-a7c4-d2ebccc960ff}">
          <p14:sldIdLst>
            <p14:sldId id="261"/>
            <p14:sldId id="262"/>
            <p14:sldId id="263"/>
            <p14:sldId id="264"/>
            <p14:sldId id="265"/>
          </p14:sldIdLst>
        </p14:section>
        <p14:section name="Turistika a sport" id="{e98c4fef-998a-ac6f-217a-2f463a221dd0}">
          <p14:sldIdLst>
            <p14:sldId id="266"/>
            <p14:sldId id="267"/>
            <p14:sldId id="268"/>
            <p14:sldId id="269"/>
          </p14:sldIdLst>
        </p14:section>
        <p14:section name="Závěr a zdroje" id="{6fed3c16-9333-3570-48a6-95ab72411bd6}">
          <p14:sldIdLst>
            <p14:sldId id="270"/>
            <p14:sldId id="271"/>
          </p14:sldIdLst>
        </p14:section>
        <p14:section name="Kvíz" id="{57437700-5aa5-4ab8-2998-3c0d7ac67294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Správná odpověď: B) Zlín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Správná odpověď: C) Beskydy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Správná odpověď: B) Baťa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Správná odpověď: A) Morava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Správná odpověď: B) Zámek Kroměříž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Správná odpověď: A) Svatý Hostýn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Správná odpověď: C)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Správná odpověď: B) Zoo Zlín-Lešná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Správná odpověď: A) Čertův mlýn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Správná odpověď: C) Zlínský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ni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011680"/>
            <a:ext cx="59436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0120" y="3291840"/>
            <a:ext cx="5943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ddi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28832" y="6355080"/>
            <a:ext cx="438912" cy="310896"/>
          </a:xfrm>
          <a:prstGeom prst="rect">
            <a:avLst/>
          </a:prstGeom>
          <a:solidFill>
            <a:schemeClr val="bg1">
              <a:alpha val="85000"/>
            </a:schemeClr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960120" y="187452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960120" y="2286000"/>
            <a:ext cx="6583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960120" y="3886200"/>
            <a:ext cx="6583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ddil vprav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28832" y="6355080"/>
            <a:ext cx="438912" cy="310896"/>
          </a:xfrm>
          <a:prstGeom prst="rect">
            <a:avLst/>
          </a:prstGeom>
          <a:solidFill>
            <a:schemeClr val="bg1">
              <a:alpha val="85000"/>
            </a:schemeClr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349240" y="1874520"/>
            <a:ext cx="58521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349240" y="2286000"/>
            <a:ext cx="58521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349240" y="3886200"/>
            <a:ext cx="5852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28832" y="6355080"/>
            <a:ext cx="438912" cy="310896"/>
          </a:xfrm>
          <a:prstGeom prst="rect">
            <a:avLst/>
          </a:prstGeom>
          <a:solidFill>
            <a:schemeClr val="bg1">
              <a:alpha val="85000"/>
            </a:schemeClr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viz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28832" y="6355080"/>
            <a:ext cx="438912" cy="310896"/>
          </a:xfrm>
          <a:prstGeom prst="rect">
            <a:avLst/>
          </a:prstGeom>
          <a:solidFill>
            <a:schemeClr val="bg1">
              <a:alpha val="85000"/>
            </a:schemeClr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22960"/>
            <a:ext cx="1109167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5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5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5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zlinskykraj.cz" TargetMode="External"/><Relationship Id="rId5" Type="http://schemas.openxmlformats.org/officeDocument/2006/relationships/hyperlink" Target="https://csu.gov.cz" TargetMode="External"/><Relationship Id="rId7" Type="http://schemas.openxmlformats.org/officeDocument/2006/relationships/hyperlink" Target="https://www.batacanal.cz" TargetMode="External"/><Relationship Id="rId9" Type="http://schemas.openxmlformats.org/officeDocument/2006/relationships/hyperlink" Target="https://www.kudyznudy.cz" TargetMode="External"/><Relationship Id="rId11" Type="http://schemas.openxmlformats.org/officeDocument/2006/relationships/hyperlink" Target="https://www.zoozlin.eu" TargetMode="External"/><Relationship Id="rId13" Type="http://schemas.openxmlformats.org/officeDocument/2006/relationships/hyperlink" Target="https://www.unesco-czech.cz" TargetMode="External"/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image" Target="../media/image-16-5.png"/><Relationship Id="rId10" Type="http://schemas.openxmlformats.org/officeDocument/2006/relationships/image" Target="../media/image-16-6.png"/><Relationship Id="rId12" Type="http://schemas.openxmlformats.org/officeDocument/2006/relationships/image" Target="../media/image-16-7.png"/><Relationship Id="rId14" Type="http://schemas.openxmlformats.org/officeDocument/2006/relationships/slideLayout" Target="../slideLayouts/slideLayout5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ní karta"/>
          <p:cNvSpPr/>
          <p:nvPr/>
        </p:nvSpPr>
        <p:spPr>
          <a:xfrm>
            <a:off x="548640" y="1325880"/>
            <a:ext cx="6766560" cy="4160520"/>
          </a:xfrm>
          <a:prstGeom prst="roundRect">
            <a:avLst>
              <a:gd name="adj" fmla="val 3077"/>
            </a:avLst>
          </a:prstGeom>
          <a:solidFill>
            <a:schemeClr val="bg1">
              <a:alpha val="90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3" name="Nadtitulek"/>
          <p:cNvSpPr txBox="1"/>
          <p:nvPr/>
        </p:nvSpPr>
        <p:spPr>
          <a:xfrm>
            <a:off x="960120" y="16916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PREZENTACE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60120" y="2011680"/>
            <a:ext cx="594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Zlínský kraj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60120" y="32918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Příroda, historie, kultura a turistika na východě Moravy</a:t>
            </a:r>
            <a:endParaRPr lang="en-US" sz="2000" dirty="0"/>
          </a:p>
        </p:txBody>
      </p:sp>
      <p:sp>
        <p:nvSpPr>
          <p:cNvPr id="6" name="Okresní město Zlín"/>
          <p:cNvSpPr txBox="1"/>
          <p:nvPr/>
        </p:nvSpPr>
        <p:spPr>
          <a:xfrm>
            <a:off x="960120" y="4526280"/>
            <a:ext cx="868680" cy="42062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Zlín</a:t>
            </a:r>
            <a:endParaRPr lang="en-US" sz="1400" dirty="0"/>
          </a:p>
        </p:txBody>
      </p:sp>
      <p:sp>
        <p:nvSpPr>
          <p:cNvPr id="7" name="Okresní město Kroměříž"/>
          <p:cNvSpPr txBox="1"/>
          <p:nvPr/>
        </p:nvSpPr>
        <p:spPr>
          <a:xfrm>
            <a:off x="2011680" y="4526280"/>
            <a:ext cx="1234440" cy="42062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Kroměříž</a:t>
            </a:r>
            <a:endParaRPr lang="en-US" sz="1400" dirty="0"/>
          </a:p>
        </p:txBody>
      </p:sp>
      <p:sp>
        <p:nvSpPr>
          <p:cNvPr id="8" name="Okresní město Uherské Hradiště"/>
          <p:cNvSpPr txBox="1"/>
          <p:nvPr/>
        </p:nvSpPr>
        <p:spPr>
          <a:xfrm>
            <a:off x="3429000" y="4526280"/>
            <a:ext cx="1874520" cy="42062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Uherské Hradiště</a:t>
            </a:r>
            <a:endParaRPr lang="en-US" sz="1400" dirty="0"/>
          </a:p>
        </p:txBody>
      </p:sp>
      <p:sp>
        <p:nvSpPr>
          <p:cNvPr id="9" name="Okresní město Vsetín"/>
          <p:cNvSpPr txBox="1"/>
          <p:nvPr/>
        </p:nvSpPr>
        <p:spPr>
          <a:xfrm>
            <a:off x="5486400" y="4526280"/>
            <a:ext cx="1051560" cy="42062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Vsetín</a:t>
            </a:r>
            <a:endParaRPr lang="en-US" sz="1400" dirty="0"/>
          </a:p>
        </p:txBody>
      </p:sp>
      <p:sp>
        <p:nvSpPr>
          <p:cNvPr id="10" name="Popisek pozadí"/>
          <p:cNvSpPr txBox="1"/>
          <p:nvPr/>
        </p:nvSpPr>
        <p:spPr>
          <a:xfrm>
            <a:off x="548640" y="6355080"/>
            <a:ext cx="4052621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Zlín – Baťův mrakodrap, továrny a baťovské domky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ZLÍNSKÝ KRAJ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Základní informace</a:t>
            </a:r>
            <a:endParaRPr lang="en-US" sz="3600" dirty="0"/>
          </a:p>
        </p:txBody>
      </p:sp>
      <p:sp>
        <p:nvSpPr>
          <p:cNvPr id="4" name="Karta – fakta"/>
          <p:cNvSpPr/>
          <p:nvPr/>
        </p:nvSpPr>
        <p:spPr>
          <a:xfrm>
            <a:off x="548640" y="1508760"/>
            <a:ext cx="5989320" cy="4617720"/>
          </a:xfrm>
          <a:prstGeom prst="roundRect">
            <a:avLst>
              <a:gd name="adj" fmla="val 277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Poloha – kruh"/>
          <p:cNvSpPr/>
          <p:nvPr/>
        </p:nvSpPr>
        <p:spPr>
          <a:xfrm>
            <a:off x="86868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Poloha –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920240"/>
            <a:ext cx="274320" cy="274320"/>
          </a:xfrm>
          <a:prstGeom prst="rect">
            <a:avLst/>
          </a:prstGeom>
        </p:spPr>
      </p:pic>
      <p:sp>
        <p:nvSpPr>
          <p:cNvPr id="7" name="Text – Poloha"/>
          <p:cNvSpPr txBox="1"/>
          <p:nvPr/>
        </p:nvSpPr>
        <p:spPr>
          <a:xfrm>
            <a:off x="1645920" y="1764792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Poloha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Kraj se nachází na východě České republiky.</a:t>
            </a:r>
            <a:endParaRPr lang="en-US" sz="1500" dirty="0"/>
          </a:p>
        </p:txBody>
      </p:sp>
      <p:sp>
        <p:nvSpPr>
          <p:cNvPr id="8" name="Sousedé – kruh"/>
          <p:cNvSpPr/>
          <p:nvPr/>
        </p:nvSpPr>
        <p:spPr>
          <a:xfrm>
            <a:off x="868680" y="286207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Sousedé –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999232"/>
            <a:ext cx="274320" cy="274320"/>
          </a:xfrm>
          <a:prstGeom prst="rect">
            <a:avLst/>
          </a:prstGeom>
        </p:spPr>
      </p:pic>
      <p:sp>
        <p:nvSpPr>
          <p:cNvPr id="10" name="Text – Sousedé"/>
          <p:cNvSpPr txBox="1"/>
          <p:nvPr/>
        </p:nvSpPr>
        <p:spPr>
          <a:xfrm>
            <a:off x="1645920" y="2843784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Sousedé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Slovensko a kraje Olomoucký, Moravskoslezský a Jihomoravský</a:t>
            </a:r>
            <a:endParaRPr lang="en-US" sz="1500" dirty="0"/>
          </a:p>
        </p:txBody>
      </p:sp>
      <p:sp>
        <p:nvSpPr>
          <p:cNvPr id="11" name="Krajské město – kruh"/>
          <p:cNvSpPr/>
          <p:nvPr/>
        </p:nvSpPr>
        <p:spPr>
          <a:xfrm>
            <a:off x="868680" y="394106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Krajské město –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078224"/>
            <a:ext cx="274320" cy="274320"/>
          </a:xfrm>
          <a:prstGeom prst="rect">
            <a:avLst/>
          </a:prstGeom>
        </p:spPr>
      </p:pic>
      <p:sp>
        <p:nvSpPr>
          <p:cNvPr id="13" name="Text – Krajské město"/>
          <p:cNvSpPr txBox="1"/>
          <p:nvPr/>
        </p:nvSpPr>
        <p:spPr>
          <a:xfrm>
            <a:off x="1645920" y="3922776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Krajské město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Zlín (cca 75 tis. obyvatel)</a:t>
            </a:r>
            <a:endParaRPr lang="en-US" sz="1500" dirty="0"/>
          </a:p>
        </p:txBody>
      </p:sp>
      <p:sp>
        <p:nvSpPr>
          <p:cNvPr id="14" name="Další velká města – kruh"/>
          <p:cNvSpPr/>
          <p:nvPr/>
        </p:nvSpPr>
        <p:spPr>
          <a:xfrm>
            <a:off x="868680" y="5020056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Další velká města – 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157216"/>
            <a:ext cx="274320" cy="274320"/>
          </a:xfrm>
          <a:prstGeom prst="rect">
            <a:avLst/>
          </a:prstGeom>
        </p:spPr>
      </p:pic>
      <p:sp>
        <p:nvSpPr>
          <p:cNvPr id="16" name="Text – Další velká města"/>
          <p:cNvSpPr txBox="1"/>
          <p:nvPr/>
        </p:nvSpPr>
        <p:spPr>
          <a:xfrm>
            <a:off x="1645920" y="5001768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Další velká města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Kroměříž (28 tis.), Vsetín (25 tis.), Uherské Hradiště (24 tis.)</a:t>
            </a:r>
            <a:endParaRPr lang="en-US" sz="1500" dirty="0"/>
          </a:p>
        </p:txBody>
      </p:sp>
      <p:sp>
        <p:nvSpPr>
          <p:cNvPr id="17" name="Dlaždice – rozloha kraje"/>
          <p:cNvSpPr/>
          <p:nvPr/>
        </p:nvSpPr>
        <p:spPr>
          <a:xfrm>
            <a:off x="6812280" y="1508760"/>
            <a:ext cx="2276856" cy="2171700"/>
          </a:xfrm>
          <a:prstGeom prst="roundRect">
            <a:avLst>
              <a:gd name="adj" fmla="val 5895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8" name="Číslo – rozloha kraje"/>
          <p:cNvSpPr txBox="1"/>
          <p:nvPr/>
        </p:nvSpPr>
        <p:spPr>
          <a:xfrm>
            <a:off x="6995160" y="1828800"/>
            <a:ext cx="1911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3 963 km²</a:t>
            </a:r>
            <a:endParaRPr lang="en-US" sz="3000" dirty="0"/>
          </a:p>
        </p:txBody>
      </p:sp>
      <p:sp>
        <p:nvSpPr>
          <p:cNvPr id="19" name="Popis – rozloha kraje"/>
          <p:cNvSpPr txBox="1"/>
          <p:nvPr/>
        </p:nvSpPr>
        <p:spPr>
          <a:xfrm>
            <a:off x="6995160" y="2606040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rozloha kraje</a:t>
            </a:r>
            <a:endParaRPr lang="en-US" sz="1500" dirty="0"/>
          </a:p>
        </p:txBody>
      </p:sp>
      <p:sp>
        <p:nvSpPr>
          <p:cNvPr id="20" name="Dlaždice – obyvatel"/>
          <p:cNvSpPr/>
          <p:nvPr/>
        </p:nvSpPr>
        <p:spPr>
          <a:xfrm>
            <a:off x="9363456" y="1508760"/>
            <a:ext cx="2276856" cy="2171700"/>
          </a:xfrm>
          <a:prstGeom prst="roundRect">
            <a:avLst>
              <a:gd name="adj" fmla="val 5895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1" name="Číslo – obyvatel"/>
          <p:cNvSpPr txBox="1"/>
          <p:nvPr/>
        </p:nvSpPr>
        <p:spPr>
          <a:xfrm>
            <a:off x="9546336" y="1828800"/>
            <a:ext cx="1911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≈ 578 000</a:t>
            </a:r>
            <a:endParaRPr lang="en-US" sz="3000" dirty="0"/>
          </a:p>
        </p:txBody>
      </p:sp>
      <p:sp>
        <p:nvSpPr>
          <p:cNvPr id="22" name="Popis – obyvatel"/>
          <p:cNvSpPr txBox="1"/>
          <p:nvPr/>
        </p:nvSpPr>
        <p:spPr>
          <a:xfrm>
            <a:off x="9546336" y="2606040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obyvatel</a:t>
            </a:r>
            <a:endParaRPr lang="en-US" sz="1500" dirty="0"/>
          </a:p>
        </p:txBody>
      </p:sp>
      <p:sp>
        <p:nvSpPr>
          <p:cNvPr id="23" name="Dlaždice – okresy: Zlín, Kroměříž, Uherské Hradiště a Vsetín"/>
          <p:cNvSpPr/>
          <p:nvPr/>
        </p:nvSpPr>
        <p:spPr>
          <a:xfrm>
            <a:off x="6812280" y="3954780"/>
            <a:ext cx="2276856" cy="2171700"/>
          </a:xfrm>
          <a:prstGeom prst="roundRect">
            <a:avLst>
              <a:gd name="adj" fmla="val 5895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4" name="Číslo – okresy: Zlín, Kroměříž, Uherské Hradiště a Vsetín"/>
          <p:cNvSpPr txBox="1"/>
          <p:nvPr/>
        </p:nvSpPr>
        <p:spPr>
          <a:xfrm>
            <a:off x="6995160" y="4274820"/>
            <a:ext cx="1911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Popis – okresy: Zlín, Kroměříž, Uherské Hradiště a Vsetín"/>
          <p:cNvSpPr txBox="1"/>
          <p:nvPr/>
        </p:nvSpPr>
        <p:spPr>
          <a:xfrm>
            <a:off x="6995160" y="5052060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okresy: Zlín, Kroměříž, Uherské Hradiště a Vsetín</a:t>
            </a:r>
            <a:endParaRPr lang="en-US" sz="1500" dirty="0"/>
          </a:p>
        </p:txBody>
      </p:sp>
      <p:sp>
        <p:nvSpPr>
          <p:cNvPr id="26" name="Dlaždice – vznik kraje (1. ledna 2000)"/>
          <p:cNvSpPr/>
          <p:nvPr/>
        </p:nvSpPr>
        <p:spPr>
          <a:xfrm>
            <a:off x="9363456" y="3954780"/>
            <a:ext cx="2276856" cy="2171700"/>
          </a:xfrm>
          <a:prstGeom prst="roundRect">
            <a:avLst>
              <a:gd name="adj" fmla="val 5895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7" name="Číslo – vznik kraje (1. ledna 2000)"/>
          <p:cNvSpPr txBox="1"/>
          <p:nvPr/>
        </p:nvSpPr>
        <p:spPr>
          <a:xfrm>
            <a:off x="9546336" y="4274820"/>
            <a:ext cx="1911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2000</a:t>
            </a:r>
            <a:endParaRPr lang="en-US" sz="3000" dirty="0"/>
          </a:p>
        </p:txBody>
      </p:sp>
      <p:sp>
        <p:nvSpPr>
          <p:cNvPr id="28" name="Popis – vznik kraje (1. ledna 2000)"/>
          <p:cNvSpPr txBox="1"/>
          <p:nvPr/>
        </p:nvSpPr>
        <p:spPr>
          <a:xfrm>
            <a:off x="9546336" y="5052060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vznik kraje (1. ledna 2000)</a:t>
            </a:r>
            <a:endParaRPr lang="en-US" sz="1500" dirty="0"/>
          </a:p>
        </p:txBody>
      </p:sp>
      <p:sp>
        <p:nvSpPr>
          <p:cNvPr id="29" name="Popisek pozadí"/>
          <p:cNvSpPr txBox="1"/>
          <p:nvPr/>
        </p:nvSpPr>
        <p:spPr>
          <a:xfrm>
            <a:off x="548640" y="6355080"/>
            <a:ext cx="2995574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baťovské cihlové domky ve Zlíně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PŘÍRODNÍ PODMÍNKY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Povrch a pohoří</a:t>
            </a:r>
            <a:endParaRPr lang="en-US" sz="3600" dirty="0"/>
          </a:p>
        </p:txBody>
      </p:sp>
      <p:sp>
        <p:nvSpPr>
          <p:cNvPr id="4" name="Karta – pohoří"/>
          <p:cNvSpPr/>
          <p:nvPr/>
        </p:nvSpPr>
        <p:spPr>
          <a:xfrm>
            <a:off x="548640" y="1508760"/>
            <a:ext cx="5852160" cy="2377440"/>
          </a:xfrm>
          <a:prstGeom prst="roundRect">
            <a:avLst>
              <a:gd name="adj" fmla="val 5385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Pohoří – kruh"/>
          <p:cNvSpPr/>
          <p:nvPr/>
        </p:nvSpPr>
        <p:spPr>
          <a:xfrm>
            <a:off x="868680" y="17830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Pohoří –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10" y="1908810"/>
            <a:ext cx="251460" cy="251460"/>
          </a:xfrm>
          <a:prstGeom prst="rect">
            <a:avLst/>
          </a:prstGeom>
        </p:spPr>
      </p:pic>
      <p:sp>
        <p:nvSpPr>
          <p:cNvPr id="7" name="Text – pohoří"/>
          <p:cNvSpPr txBox="1"/>
          <p:nvPr/>
        </p:nvSpPr>
        <p:spPr>
          <a:xfrm>
            <a:off x="1554480" y="175564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Pohoří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Kraj je převážně kopcovitý a hornatý.</a:t>
            </a:r>
            <a:endParaRPr lang="en-US" sz="1500" dirty="0"/>
          </a:p>
        </p:txBody>
      </p:sp>
      <p:sp>
        <p:nvSpPr>
          <p:cNvPr id="8" name="Pohoří Beskydy"/>
          <p:cNvSpPr txBox="1"/>
          <p:nvPr/>
        </p:nvSpPr>
        <p:spPr>
          <a:xfrm>
            <a:off x="868680" y="2697480"/>
            <a:ext cx="2468880" cy="40233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Beskydy</a:t>
            </a:r>
            <a:endParaRPr lang="en-US" sz="1500" dirty="0"/>
          </a:p>
        </p:txBody>
      </p:sp>
      <p:sp>
        <p:nvSpPr>
          <p:cNvPr id="9" name="Pohoří Javorníky"/>
          <p:cNvSpPr txBox="1"/>
          <p:nvPr/>
        </p:nvSpPr>
        <p:spPr>
          <a:xfrm>
            <a:off x="3520440" y="2697480"/>
            <a:ext cx="2468880" cy="40233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Javorníky</a:t>
            </a:r>
            <a:endParaRPr lang="en-US" sz="1500" dirty="0"/>
          </a:p>
        </p:txBody>
      </p:sp>
      <p:sp>
        <p:nvSpPr>
          <p:cNvPr id="10" name="Pohoří Bílé Karpaty"/>
          <p:cNvSpPr txBox="1"/>
          <p:nvPr/>
        </p:nvSpPr>
        <p:spPr>
          <a:xfrm>
            <a:off x="868680" y="3227832"/>
            <a:ext cx="2468880" cy="40233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Bílé Karpaty</a:t>
            </a:r>
            <a:endParaRPr lang="en-US" sz="1500" dirty="0"/>
          </a:p>
        </p:txBody>
      </p:sp>
      <p:sp>
        <p:nvSpPr>
          <p:cNvPr id="11" name="Pohoří Chřiby"/>
          <p:cNvSpPr txBox="1"/>
          <p:nvPr/>
        </p:nvSpPr>
        <p:spPr>
          <a:xfrm>
            <a:off x="3520440" y="3227832"/>
            <a:ext cx="2468880" cy="40233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Chřiby</a:t>
            </a:r>
            <a:endParaRPr lang="en-US" sz="1500" dirty="0"/>
          </a:p>
        </p:txBody>
      </p:sp>
      <p:sp>
        <p:nvSpPr>
          <p:cNvPr id="12" name="Karta – CHKO"/>
          <p:cNvSpPr/>
          <p:nvPr/>
        </p:nvSpPr>
        <p:spPr>
          <a:xfrm>
            <a:off x="548640" y="4114800"/>
            <a:ext cx="5852160" cy="2011680"/>
          </a:xfrm>
          <a:prstGeom prst="roundRect">
            <a:avLst>
              <a:gd name="adj" fmla="val 6364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CHKO – kruh"/>
          <p:cNvSpPr/>
          <p:nvPr/>
        </p:nvSpPr>
        <p:spPr>
          <a:xfrm>
            <a:off x="868680" y="438912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4" name="CHKO –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4514850"/>
            <a:ext cx="251460" cy="251460"/>
          </a:xfrm>
          <a:prstGeom prst="rect">
            <a:avLst/>
          </a:prstGeom>
        </p:spPr>
      </p:pic>
      <p:sp>
        <p:nvSpPr>
          <p:cNvPr id="15" name="Text – CHKO"/>
          <p:cNvSpPr txBox="1"/>
          <p:nvPr/>
        </p:nvSpPr>
        <p:spPr>
          <a:xfrm>
            <a:off x="1554480" y="43616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Chráněné krajinné oblasti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Významné chráněné oblasti kraje</a:t>
            </a:r>
            <a:endParaRPr lang="en-US" sz="1500" dirty="0"/>
          </a:p>
        </p:txBody>
      </p:sp>
      <p:sp>
        <p:nvSpPr>
          <p:cNvPr id="16" name="CHKO Beskydy"/>
          <p:cNvSpPr txBox="1"/>
          <p:nvPr/>
        </p:nvSpPr>
        <p:spPr>
          <a:xfrm>
            <a:off x="868680" y="5303520"/>
            <a:ext cx="2468880" cy="40233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CHKO Beskydy</a:t>
            </a:r>
            <a:endParaRPr lang="en-US" sz="1500" dirty="0"/>
          </a:p>
        </p:txBody>
      </p:sp>
      <p:sp>
        <p:nvSpPr>
          <p:cNvPr id="17" name="CHKO Bílé Karpaty"/>
          <p:cNvSpPr txBox="1"/>
          <p:nvPr/>
        </p:nvSpPr>
        <p:spPr>
          <a:xfrm>
            <a:off x="3520440" y="5303520"/>
            <a:ext cx="2468880" cy="40233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CHKO Bílé Karpaty</a:t>
            </a:r>
            <a:endParaRPr lang="en-US" sz="1500" dirty="0"/>
          </a:p>
        </p:txBody>
      </p:sp>
      <p:sp>
        <p:nvSpPr>
          <p:cNvPr id="18" name="Karta – nejvyšší bod"/>
          <p:cNvSpPr/>
          <p:nvPr/>
        </p:nvSpPr>
        <p:spPr>
          <a:xfrm>
            <a:off x="6675120" y="1508760"/>
            <a:ext cx="4965192" cy="2377440"/>
          </a:xfrm>
          <a:prstGeom prst="roundRect">
            <a:avLst>
              <a:gd name="adj" fmla="val 5385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9" name="Nadpis – nejvyšší bod"/>
          <p:cNvSpPr txBox="1"/>
          <p:nvPr/>
        </p:nvSpPr>
        <p:spPr>
          <a:xfrm>
            <a:off x="6995160" y="17830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NEJVYŠŠÍ BOD KRAJE</a:t>
            </a:r>
            <a:endParaRPr lang="en-US" sz="1300" dirty="0"/>
          </a:p>
        </p:txBody>
      </p:sp>
      <p:sp>
        <p:nvSpPr>
          <p:cNvPr id="20" name="Číslo – výška"/>
          <p:cNvSpPr txBox="1"/>
          <p:nvPr/>
        </p:nvSpPr>
        <p:spPr>
          <a:xfrm>
            <a:off x="6995160" y="21031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1 206 m n. m.</a:t>
            </a:r>
            <a:endParaRPr lang="en-US" sz="4400" dirty="0"/>
          </a:p>
        </p:txBody>
      </p:sp>
      <p:sp>
        <p:nvSpPr>
          <p:cNvPr id="21" name="Popis – Čertův mlýn"/>
          <p:cNvSpPr txBox="1"/>
          <p:nvPr/>
        </p:nvSpPr>
        <p:spPr>
          <a:xfrm>
            <a:off x="6995160" y="3017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Čertův mlýn v Beskydech</a:t>
            </a:r>
            <a:endParaRPr lang="en-US" sz="1800" dirty="0"/>
          </a:p>
        </p:txBody>
      </p:sp>
      <p:sp>
        <p:nvSpPr>
          <p:cNvPr id="22" name="Popisek pozadí"/>
          <p:cNvSpPr txBox="1"/>
          <p:nvPr/>
        </p:nvSpPr>
        <p:spPr>
          <a:xfrm>
            <a:off x="548640" y="6355080"/>
            <a:ext cx="1503274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Beskydy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ŘEKY A VODNÍ PLOCHY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Vodstvo</a:t>
            </a:r>
            <a:endParaRPr lang="en-US" sz="3600" dirty="0"/>
          </a:p>
        </p:txBody>
      </p:sp>
      <p:sp>
        <p:nvSpPr>
          <p:cNvPr id="4" name="Karta – Morava"/>
          <p:cNvSpPr/>
          <p:nvPr/>
        </p:nvSpPr>
        <p:spPr>
          <a:xfrm>
            <a:off x="548640" y="1508760"/>
            <a:ext cx="3511296" cy="2514600"/>
          </a:xfrm>
          <a:prstGeom prst="roundRect">
            <a:avLst>
              <a:gd name="adj" fmla="val 5091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Morava – kruh"/>
          <p:cNvSpPr/>
          <p:nvPr/>
        </p:nvSpPr>
        <p:spPr>
          <a:xfrm>
            <a:off x="868680" y="17830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Morava –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920240"/>
            <a:ext cx="274320" cy="274320"/>
          </a:xfrm>
          <a:prstGeom prst="rect">
            <a:avLst/>
          </a:prstGeom>
        </p:spPr>
      </p:pic>
      <p:sp>
        <p:nvSpPr>
          <p:cNvPr id="7" name="Nadpis – Morava"/>
          <p:cNvSpPr txBox="1"/>
          <p:nvPr/>
        </p:nvSpPr>
        <p:spPr>
          <a:xfrm>
            <a:off x="868680" y="2560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NEJVÝZNAMNĚJŠÍ ŘEKA</a:t>
            </a:r>
            <a:endParaRPr lang="en-US" sz="1300" dirty="0"/>
          </a:p>
        </p:txBody>
      </p:sp>
      <p:sp>
        <p:nvSpPr>
          <p:cNvPr id="8" name="Morava"/>
          <p:cNvSpPr txBox="1"/>
          <p:nvPr/>
        </p:nvSpPr>
        <p:spPr>
          <a:xfrm>
            <a:off x="868680" y="28346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Morava</a:t>
            </a:r>
            <a:endParaRPr lang="en-US" sz="4400" dirty="0"/>
          </a:p>
        </p:txBody>
      </p:sp>
      <p:sp>
        <p:nvSpPr>
          <p:cNvPr id="9" name="Karta – další řeky"/>
          <p:cNvSpPr/>
          <p:nvPr/>
        </p:nvSpPr>
        <p:spPr>
          <a:xfrm>
            <a:off x="4334256" y="1508760"/>
            <a:ext cx="3511296" cy="2514600"/>
          </a:xfrm>
          <a:prstGeom prst="roundRect">
            <a:avLst>
              <a:gd name="adj" fmla="val 5091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0" name="Další řeky – kruh"/>
          <p:cNvSpPr/>
          <p:nvPr/>
        </p:nvSpPr>
        <p:spPr>
          <a:xfrm>
            <a:off x="4654296" y="17830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Další řeky –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920240"/>
            <a:ext cx="274320" cy="274320"/>
          </a:xfrm>
          <a:prstGeom prst="rect">
            <a:avLst/>
          </a:prstGeom>
        </p:spPr>
      </p:pic>
      <p:sp>
        <p:nvSpPr>
          <p:cNvPr id="12" name="Nadpis – další řeky"/>
          <p:cNvSpPr txBox="1"/>
          <p:nvPr/>
        </p:nvSpPr>
        <p:spPr>
          <a:xfrm>
            <a:off x="5349240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Další řeky</a:t>
            </a:r>
            <a:endParaRPr lang="en-US" sz="1800" dirty="0"/>
          </a:p>
        </p:txBody>
      </p:sp>
      <p:sp>
        <p:nvSpPr>
          <p:cNvPr id="13" name="Řeka Bečva"/>
          <p:cNvSpPr txBox="1"/>
          <p:nvPr/>
        </p:nvSpPr>
        <p:spPr>
          <a:xfrm>
            <a:off x="4654296" y="2606040"/>
            <a:ext cx="1371600" cy="40233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Bečva</a:t>
            </a:r>
            <a:endParaRPr lang="en-US" sz="1500" dirty="0"/>
          </a:p>
        </p:txBody>
      </p:sp>
      <p:sp>
        <p:nvSpPr>
          <p:cNvPr id="14" name="Řeka Dřevnice"/>
          <p:cNvSpPr txBox="1"/>
          <p:nvPr/>
        </p:nvSpPr>
        <p:spPr>
          <a:xfrm>
            <a:off x="6135624" y="2606040"/>
            <a:ext cx="1371600" cy="40233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Dřevnice</a:t>
            </a:r>
            <a:endParaRPr lang="en-US" sz="1500" dirty="0"/>
          </a:p>
        </p:txBody>
      </p:sp>
      <p:sp>
        <p:nvSpPr>
          <p:cNvPr id="15" name="Řeka Olšava"/>
          <p:cNvSpPr txBox="1"/>
          <p:nvPr/>
        </p:nvSpPr>
        <p:spPr>
          <a:xfrm>
            <a:off x="4654296" y="3154680"/>
            <a:ext cx="1371600" cy="40233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Olšava</a:t>
            </a:r>
            <a:endParaRPr lang="en-US" sz="1500" dirty="0"/>
          </a:p>
        </p:txBody>
      </p:sp>
      <p:sp>
        <p:nvSpPr>
          <p:cNvPr id="16" name="Řeka Rusava"/>
          <p:cNvSpPr txBox="1"/>
          <p:nvPr/>
        </p:nvSpPr>
        <p:spPr>
          <a:xfrm>
            <a:off x="6135624" y="3154680"/>
            <a:ext cx="1371600" cy="40233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Rusava</a:t>
            </a:r>
            <a:endParaRPr lang="en-US" sz="1500" dirty="0"/>
          </a:p>
        </p:txBody>
      </p:sp>
      <p:sp>
        <p:nvSpPr>
          <p:cNvPr id="17" name="Karta – vodní nádrže"/>
          <p:cNvSpPr/>
          <p:nvPr/>
        </p:nvSpPr>
        <p:spPr>
          <a:xfrm>
            <a:off x="8119872" y="1508760"/>
            <a:ext cx="3520440" cy="2514600"/>
          </a:xfrm>
          <a:prstGeom prst="roundRect">
            <a:avLst>
              <a:gd name="adj" fmla="val 5091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8" name="Vodní nádrže – kruh"/>
          <p:cNvSpPr/>
          <p:nvPr/>
        </p:nvSpPr>
        <p:spPr>
          <a:xfrm>
            <a:off x="8439912" y="17830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Vodní nádrže –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1920240"/>
            <a:ext cx="274320" cy="274320"/>
          </a:xfrm>
          <a:prstGeom prst="rect">
            <a:avLst/>
          </a:prstGeom>
        </p:spPr>
      </p:pic>
      <p:sp>
        <p:nvSpPr>
          <p:cNvPr id="20" name="Nadpis – nádrže"/>
          <p:cNvSpPr txBox="1"/>
          <p:nvPr/>
        </p:nvSpPr>
        <p:spPr>
          <a:xfrm>
            <a:off x="9134856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Vodní nádrže</a:t>
            </a:r>
            <a:endParaRPr lang="en-US" sz="1800" dirty="0"/>
          </a:p>
        </p:txBody>
      </p:sp>
      <p:sp>
        <p:nvSpPr>
          <p:cNvPr id="21" name="Seznam nádrží"/>
          <p:cNvSpPr txBox="1"/>
          <p:nvPr/>
        </p:nvSpPr>
        <p:spPr>
          <a:xfrm>
            <a:off x="8439912" y="25603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Bystřička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Ludkovice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Karolinka</a:t>
            </a:r>
            <a:endParaRPr lang="en-US" sz="1600" dirty="0"/>
          </a:p>
        </p:txBody>
      </p:sp>
      <p:sp>
        <p:nvSpPr>
          <p:cNvPr id="22" name="Karta – povodí Dunaje"/>
          <p:cNvSpPr/>
          <p:nvPr/>
        </p:nvSpPr>
        <p:spPr>
          <a:xfrm>
            <a:off x="548640" y="4297680"/>
            <a:ext cx="11091672" cy="1828800"/>
          </a:xfrm>
          <a:prstGeom prst="roundRect">
            <a:avLst>
              <a:gd name="adj" fmla="val 7000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3" name="Text – povodí"/>
          <p:cNvSpPr txBox="1"/>
          <p:nvPr/>
        </p:nvSpPr>
        <p:spPr>
          <a:xfrm>
            <a:off x="868680" y="461772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Většina území patří do povodí Dunaje.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Řeky kraje odvádějí vodu do Moravy, ta do Dunaje a Dunaj až do Černého moře.</a:t>
            </a:r>
            <a:endParaRPr lang="en-US" sz="1500" dirty="0"/>
          </a:p>
        </p:txBody>
      </p:sp>
      <p:sp>
        <p:nvSpPr>
          <p:cNvPr id="24" name="Tok – Morava"/>
          <p:cNvSpPr txBox="1"/>
          <p:nvPr/>
        </p:nvSpPr>
        <p:spPr>
          <a:xfrm>
            <a:off x="6172200" y="4983480"/>
            <a:ext cx="1417320" cy="47548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Morava</a:t>
            </a:r>
            <a:endParaRPr lang="en-US" sz="1600" dirty="0"/>
          </a:p>
        </p:txBody>
      </p:sp>
      <p:pic>
        <p:nvPicPr>
          <p:cNvPr id="25" name="Šipka 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8392" y="5056632"/>
            <a:ext cx="329184" cy="329184"/>
          </a:xfrm>
          <a:prstGeom prst="rect">
            <a:avLst/>
          </a:prstGeom>
        </p:spPr>
      </p:pic>
      <p:sp>
        <p:nvSpPr>
          <p:cNvPr id="26" name="Tok – Dunaj"/>
          <p:cNvSpPr txBox="1"/>
          <p:nvPr/>
        </p:nvSpPr>
        <p:spPr>
          <a:xfrm>
            <a:off x="8092440" y="4983480"/>
            <a:ext cx="1325880" cy="47548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Dunaj</a:t>
            </a:r>
            <a:endParaRPr lang="en-US" sz="1600" dirty="0"/>
          </a:p>
        </p:txBody>
      </p:sp>
      <p:pic>
        <p:nvPicPr>
          <p:cNvPr id="27" name="Šipka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7192" y="5056632"/>
            <a:ext cx="329184" cy="329184"/>
          </a:xfrm>
          <a:prstGeom prst="rect">
            <a:avLst/>
          </a:prstGeom>
        </p:spPr>
      </p:pic>
      <p:sp>
        <p:nvSpPr>
          <p:cNvPr id="28" name="Tok – Černé moře"/>
          <p:cNvSpPr txBox="1"/>
          <p:nvPr/>
        </p:nvSpPr>
        <p:spPr>
          <a:xfrm>
            <a:off x="9921240" y="4983480"/>
            <a:ext cx="1417320" cy="47548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Černé moře</a:t>
            </a:r>
            <a:endParaRPr lang="en-US" sz="1600" dirty="0"/>
          </a:p>
        </p:txBody>
      </p:sp>
      <p:sp>
        <p:nvSpPr>
          <p:cNvPr id="29" name="Popisek pozadí"/>
          <p:cNvSpPr txBox="1"/>
          <p:nvPr/>
        </p:nvSpPr>
        <p:spPr>
          <a:xfrm>
            <a:off x="548640" y="6355080"/>
            <a:ext cx="2809037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vodní nádrž a řeka v kopcích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HOSPODÁŘSTVÍ · HISTORIE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Hospodářství a historie kraje</a:t>
            </a:r>
            <a:endParaRPr lang="en-US" sz="3600" dirty="0"/>
          </a:p>
        </p:txBody>
      </p:sp>
      <p:sp>
        <p:nvSpPr>
          <p:cNvPr id="4" name="Karta – hospodářství"/>
          <p:cNvSpPr/>
          <p:nvPr/>
        </p:nvSpPr>
        <p:spPr>
          <a:xfrm>
            <a:off x="548640" y="1508760"/>
            <a:ext cx="6537960" cy="4617720"/>
          </a:xfrm>
          <a:prstGeom prst="roundRect">
            <a:avLst>
              <a:gd name="adj" fmla="val 277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Nadpis – hospodářství"/>
          <p:cNvSpPr txBox="1"/>
          <p:nvPr/>
        </p:nvSpPr>
        <p:spPr>
          <a:xfrm>
            <a:off x="868680" y="1737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Hospodářství</a:t>
            </a:r>
            <a:endParaRPr lang="en-US" sz="2000" dirty="0"/>
          </a:p>
        </p:txBody>
      </p:sp>
      <p:sp>
        <p:nvSpPr>
          <p:cNvPr id="6" name="Strojírenství – kruh"/>
          <p:cNvSpPr/>
          <p:nvPr/>
        </p:nvSpPr>
        <p:spPr>
          <a:xfrm>
            <a:off x="868680" y="22860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Strojírenství –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10" y="2411730"/>
            <a:ext cx="251460" cy="251460"/>
          </a:xfrm>
          <a:prstGeom prst="rect">
            <a:avLst/>
          </a:prstGeom>
        </p:spPr>
      </p:pic>
      <p:sp>
        <p:nvSpPr>
          <p:cNvPr id="8" name="Text – Strojírenství"/>
          <p:cNvSpPr txBox="1"/>
          <p:nvPr/>
        </p:nvSpPr>
        <p:spPr>
          <a:xfrm>
            <a:off x="1600200" y="22677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Strojírenství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výroba strojů, kovových součástek a průmyslových zařízení</a:t>
            </a:r>
            <a:endParaRPr lang="en-US" sz="1500" dirty="0"/>
          </a:p>
        </p:txBody>
      </p:sp>
      <p:sp>
        <p:nvSpPr>
          <p:cNvPr id="9" name="Gumárenský průmysl – kruh"/>
          <p:cNvSpPr/>
          <p:nvPr/>
        </p:nvSpPr>
        <p:spPr>
          <a:xfrm>
            <a:off x="868680" y="32278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Gumárenský průmysl –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3353562"/>
            <a:ext cx="251460" cy="251460"/>
          </a:xfrm>
          <a:prstGeom prst="rect">
            <a:avLst/>
          </a:prstGeom>
        </p:spPr>
      </p:pic>
      <p:sp>
        <p:nvSpPr>
          <p:cNvPr id="11" name="Text – Gumárenský průmysl"/>
          <p:cNvSpPr txBox="1"/>
          <p:nvPr/>
        </p:nvSpPr>
        <p:spPr>
          <a:xfrm>
            <a:off x="1600200" y="32095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Gumárenský průmysl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pneumatiky, pryžové výrobky a technická guma (Barum Continental Otrokovice)</a:t>
            </a:r>
            <a:endParaRPr lang="en-US" sz="1500" dirty="0"/>
          </a:p>
        </p:txBody>
      </p:sp>
      <p:sp>
        <p:nvSpPr>
          <p:cNvPr id="12" name="Potravinářství – kruh"/>
          <p:cNvSpPr/>
          <p:nvPr/>
        </p:nvSpPr>
        <p:spPr>
          <a:xfrm>
            <a:off x="868680" y="4169664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Potravinářství –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4295394"/>
            <a:ext cx="251460" cy="251460"/>
          </a:xfrm>
          <a:prstGeom prst="rect">
            <a:avLst/>
          </a:prstGeom>
        </p:spPr>
      </p:pic>
      <p:sp>
        <p:nvSpPr>
          <p:cNvPr id="14" name="Text – Potravinářství"/>
          <p:cNvSpPr txBox="1"/>
          <p:nvPr/>
        </p:nvSpPr>
        <p:spPr>
          <a:xfrm>
            <a:off x="1600200" y="41513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Potravinářství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pečivo, masné výrobky, nápoje, paštiky a kečupy</a:t>
            </a:r>
            <a:endParaRPr lang="en-US" sz="1500" dirty="0"/>
          </a:p>
        </p:txBody>
      </p:sp>
      <p:sp>
        <p:nvSpPr>
          <p:cNvPr id="15" name="Zemědělství a vinařství – kruh"/>
          <p:cNvSpPr/>
          <p:nvPr/>
        </p:nvSpPr>
        <p:spPr>
          <a:xfrm>
            <a:off x="868680" y="511149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Zemědělství a vinařství – 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410" y="5237226"/>
            <a:ext cx="251460" cy="251460"/>
          </a:xfrm>
          <a:prstGeom prst="rect">
            <a:avLst/>
          </a:prstGeom>
        </p:spPr>
      </p:pic>
      <p:sp>
        <p:nvSpPr>
          <p:cNvPr id="17" name="Text – Zemědělství a vinařství"/>
          <p:cNvSpPr txBox="1"/>
          <p:nvPr/>
        </p:nvSpPr>
        <p:spPr>
          <a:xfrm>
            <a:off x="1600200" y="5093208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Zemědělství a vinařství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obiloviny a víno (Slovácko)</a:t>
            </a:r>
            <a:endParaRPr lang="en-US" sz="1500" dirty="0"/>
          </a:p>
        </p:txBody>
      </p:sp>
      <p:sp>
        <p:nvSpPr>
          <p:cNvPr id="18" name="Karta – historie"/>
          <p:cNvSpPr/>
          <p:nvPr/>
        </p:nvSpPr>
        <p:spPr>
          <a:xfrm>
            <a:off x="7360920" y="1508760"/>
            <a:ext cx="4279392" cy="4617720"/>
          </a:xfrm>
          <a:prstGeom prst="roundRect">
            <a:avLst>
              <a:gd name="adj" fmla="val 2991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9" name="Nadpis – historie"/>
          <p:cNvSpPr txBox="1"/>
          <p:nvPr/>
        </p:nvSpPr>
        <p:spPr>
          <a:xfrm>
            <a:off x="76809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Historie</a:t>
            </a:r>
            <a:endParaRPr lang="en-US" sz="2000" dirty="0"/>
          </a:p>
        </p:txBody>
      </p:sp>
      <p:sp>
        <p:nvSpPr>
          <p:cNvPr id="20" name="Časová osa"/>
          <p:cNvSpPr/>
          <p:nvPr/>
        </p:nvSpPr>
        <p:spPr>
          <a:xfrm>
            <a:off x="7827264" y="2514600"/>
            <a:ext cx="0" cy="274320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21" name="Bod osy 1"/>
          <p:cNvSpPr/>
          <p:nvPr/>
        </p:nvSpPr>
        <p:spPr>
          <a:xfrm>
            <a:off x="7717536" y="2423160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Historie 1"/>
          <p:cNvSpPr txBox="1"/>
          <p:nvPr/>
        </p:nvSpPr>
        <p:spPr>
          <a:xfrm>
            <a:off x="8138160" y="23774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Oblast byla osídlena již v pravěku.</a:t>
            </a:r>
            <a:endParaRPr lang="en-US" sz="1500" dirty="0"/>
          </a:p>
        </p:txBody>
      </p:sp>
      <p:sp>
        <p:nvSpPr>
          <p:cNvPr id="23" name="Bod osy 2"/>
          <p:cNvSpPr/>
          <p:nvPr/>
        </p:nvSpPr>
        <p:spPr>
          <a:xfrm>
            <a:off x="7717536" y="3337560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4" name="Historie 2"/>
          <p:cNvSpPr txBox="1"/>
          <p:nvPr/>
        </p:nvSpPr>
        <p:spPr>
          <a:xfrm>
            <a:off x="8138160" y="32918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Významné období Velké Moravy.</a:t>
            </a:r>
            <a:endParaRPr lang="en-US" sz="1500" dirty="0"/>
          </a:p>
        </p:txBody>
      </p:sp>
      <p:sp>
        <p:nvSpPr>
          <p:cNvPr id="25" name="Bod osy 3"/>
          <p:cNvSpPr/>
          <p:nvPr/>
        </p:nvSpPr>
        <p:spPr>
          <a:xfrm>
            <a:off x="7717536" y="4251960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6" name="Historie 3"/>
          <p:cNvSpPr txBox="1"/>
          <p:nvPr/>
        </p:nvSpPr>
        <p:spPr>
          <a:xfrm>
            <a:off x="8138160" y="42062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Rozvoj průmyslu ve 20. století díky firmě Baťa.</a:t>
            </a:r>
            <a:endParaRPr lang="en-US" sz="1500" dirty="0"/>
          </a:p>
        </p:txBody>
      </p:sp>
      <p:sp>
        <p:nvSpPr>
          <p:cNvPr id="27" name="Bod osy 4"/>
          <p:cNvSpPr/>
          <p:nvPr/>
        </p:nvSpPr>
        <p:spPr>
          <a:xfrm>
            <a:off x="7717536" y="5166360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Historie 4"/>
          <p:cNvSpPr txBox="1"/>
          <p:nvPr/>
        </p:nvSpPr>
        <p:spPr>
          <a:xfrm>
            <a:off x="8138160" y="51206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Zlín se stal symbolem moderní architektury a podnikání.</a:t>
            </a:r>
            <a:endParaRPr lang="en-US" sz="1500" dirty="0"/>
          </a:p>
        </p:txBody>
      </p:sp>
      <p:sp>
        <p:nvSpPr>
          <p:cNvPr id="29" name="Popisek pozadí"/>
          <p:cNvSpPr txBox="1"/>
          <p:nvPr/>
        </p:nvSpPr>
        <p:spPr>
          <a:xfrm>
            <a:off x="548640" y="6355080"/>
            <a:ext cx="3493008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Baťovy tovární budovy a vinice Slovácka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arta – oddíl 1"/>
          <p:cNvSpPr/>
          <p:nvPr/>
        </p:nvSpPr>
        <p:spPr>
          <a:xfrm>
            <a:off x="548640" y="1508760"/>
            <a:ext cx="7406640" cy="3246120"/>
          </a:xfrm>
          <a:prstGeom prst="roundRect">
            <a:avLst>
              <a:gd name="adj" fmla="val 3944"/>
            </a:avLst>
          </a:prstGeom>
          <a:solidFill>
            <a:schemeClr val="bg1">
              <a:alpha val="90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960120" y="18745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ČÁST 1</a:t>
            </a:r>
            <a:endParaRPr lang="en-US" sz="15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960120" y="22860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Historie, architektura a kultura</a:t>
            </a:r>
            <a:endParaRPr lang="en-US" sz="4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960120" y="38862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Velká Morava, Baťův Zlín, památky UNESCO a lidové tradice</a:t>
            </a:r>
            <a:endParaRPr lang="en-US" sz="1800" dirty="0"/>
          </a:p>
        </p:txBody>
      </p:sp>
      <p:sp>
        <p:nvSpPr>
          <p:cNvPr id="6" name="Popisek pozadí"/>
          <p:cNvSpPr txBox="1"/>
          <p:nvPr/>
        </p:nvSpPr>
        <p:spPr>
          <a:xfrm>
            <a:off x="548640" y="6355080"/>
            <a:ext cx="2373782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bazilika na Velehradě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ZAJÍMAVOSTI Z HISTORIE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Historie kraje</a:t>
            </a:r>
            <a:endParaRPr lang="en-US" sz="3600" dirty="0"/>
          </a:p>
        </p:txBody>
      </p:sp>
      <p:sp>
        <p:nvSpPr>
          <p:cNvPr id="4" name="Karta – úvod historie"/>
          <p:cNvSpPr/>
          <p:nvPr/>
        </p:nvSpPr>
        <p:spPr>
          <a:xfrm>
            <a:off x="548640" y="1508760"/>
            <a:ext cx="5486400" cy="1143000"/>
          </a:xfrm>
          <a:prstGeom prst="roundRect">
            <a:avLst>
              <a:gd name="adj" fmla="val 11200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Úvodní věta"/>
          <p:cNvSpPr txBox="1"/>
          <p:nvPr/>
        </p:nvSpPr>
        <p:spPr>
          <a:xfrm>
            <a:off x="868680" y="164592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chemeClr val="tx2"/>
                </a:solidFill>
              </a:rPr>
              <a:t>Od Velké Moravy až po světoznámou firmu Baťa</a:t>
            </a:r>
            <a:endParaRPr lang="en-US" sz="1900" dirty="0"/>
          </a:p>
        </p:txBody>
      </p:sp>
      <p:sp>
        <p:nvSpPr>
          <p:cNvPr id="6" name="Časová osa"/>
          <p:cNvSpPr/>
          <p:nvPr/>
        </p:nvSpPr>
        <p:spPr>
          <a:xfrm>
            <a:off x="1828800" y="3611880"/>
            <a:ext cx="85496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7" name="Karta – 9. STOLETÍ"/>
          <p:cNvSpPr/>
          <p:nvPr/>
        </p:nvSpPr>
        <p:spPr>
          <a:xfrm>
            <a:off x="548640" y="4069080"/>
            <a:ext cx="2569464" cy="2057400"/>
          </a:xfrm>
          <a:prstGeom prst="roundRect">
            <a:avLst>
              <a:gd name="adj" fmla="val 622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8" name="9. STOLETÍ – kruh"/>
          <p:cNvSpPr/>
          <p:nvPr/>
        </p:nvSpPr>
        <p:spPr>
          <a:xfrm>
            <a:off x="1513332" y="32918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9. STOLETÍ –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3352" y="3451860"/>
            <a:ext cx="320040" cy="320040"/>
          </a:xfrm>
          <a:prstGeom prst="rect">
            <a:avLst/>
          </a:prstGeom>
        </p:spPr>
      </p:pic>
      <p:sp>
        <p:nvSpPr>
          <p:cNvPr id="10" name="Období – 9. STOLETÍ"/>
          <p:cNvSpPr txBox="1"/>
          <p:nvPr/>
        </p:nvSpPr>
        <p:spPr>
          <a:xfrm>
            <a:off x="777240" y="4297680"/>
            <a:ext cx="2112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9. STOLETÍ</a:t>
            </a:r>
            <a:endParaRPr lang="en-US" sz="1300" dirty="0"/>
          </a:p>
        </p:txBody>
      </p:sp>
      <p:sp>
        <p:nvSpPr>
          <p:cNvPr id="11" name="Popis – 9. STOLETÍ"/>
          <p:cNvSpPr txBox="1"/>
          <p:nvPr/>
        </p:nvSpPr>
        <p:spPr>
          <a:xfrm>
            <a:off x="777240" y="4645152"/>
            <a:ext cx="2112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Centrum Velkomoravské říše ve Starém Městě a okolí</a:t>
            </a:r>
            <a:endParaRPr lang="en-US" sz="1500" dirty="0"/>
          </a:p>
        </p:txBody>
      </p:sp>
      <p:sp>
        <p:nvSpPr>
          <p:cNvPr id="12" name="Karta – POUTNÍ MÍSTA"/>
          <p:cNvSpPr/>
          <p:nvPr/>
        </p:nvSpPr>
        <p:spPr>
          <a:xfrm>
            <a:off x="3392424" y="4069080"/>
            <a:ext cx="2569464" cy="2057400"/>
          </a:xfrm>
          <a:prstGeom prst="roundRect">
            <a:avLst>
              <a:gd name="adj" fmla="val 622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POUTNÍ MÍSTA – kruh"/>
          <p:cNvSpPr/>
          <p:nvPr/>
        </p:nvSpPr>
        <p:spPr>
          <a:xfrm>
            <a:off x="4357116" y="32918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POUTNÍ MÍSTA –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136" y="3451860"/>
            <a:ext cx="320040" cy="320040"/>
          </a:xfrm>
          <a:prstGeom prst="rect">
            <a:avLst/>
          </a:prstGeom>
        </p:spPr>
      </p:pic>
      <p:sp>
        <p:nvSpPr>
          <p:cNvPr id="15" name="Období – POUTNÍ MÍSTA"/>
          <p:cNvSpPr txBox="1"/>
          <p:nvPr/>
        </p:nvSpPr>
        <p:spPr>
          <a:xfrm>
            <a:off x="3621024" y="4297680"/>
            <a:ext cx="2112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POUTNÍ MÍSTA</a:t>
            </a:r>
            <a:endParaRPr lang="en-US" sz="1300" dirty="0"/>
          </a:p>
        </p:txBody>
      </p:sp>
      <p:sp>
        <p:nvSpPr>
          <p:cNvPr id="16" name="Popis – POUTNÍ MÍSTA"/>
          <p:cNvSpPr txBox="1"/>
          <p:nvPr/>
        </p:nvSpPr>
        <p:spPr>
          <a:xfrm>
            <a:off x="3621024" y="4645152"/>
            <a:ext cx="2112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Významná poutní místa Velehrad a Svatý Hostýn</a:t>
            </a:r>
            <a:endParaRPr lang="en-US" sz="1500" dirty="0"/>
          </a:p>
        </p:txBody>
      </p:sp>
      <p:sp>
        <p:nvSpPr>
          <p:cNvPr id="17" name="Karta – ROK 1894"/>
          <p:cNvSpPr/>
          <p:nvPr/>
        </p:nvSpPr>
        <p:spPr>
          <a:xfrm>
            <a:off x="6236208" y="4069080"/>
            <a:ext cx="2569464" cy="2057400"/>
          </a:xfrm>
          <a:prstGeom prst="roundRect">
            <a:avLst>
              <a:gd name="adj" fmla="val 622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8" name="ROK 1894 – kruh"/>
          <p:cNvSpPr/>
          <p:nvPr/>
        </p:nvSpPr>
        <p:spPr>
          <a:xfrm>
            <a:off x="7200900" y="32918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ROK 1894 –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3451860"/>
            <a:ext cx="320040" cy="320040"/>
          </a:xfrm>
          <a:prstGeom prst="rect">
            <a:avLst/>
          </a:prstGeom>
        </p:spPr>
      </p:pic>
      <p:sp>
        <p:nvSpPr>
          <p:cNvPr id="20" name="Období – ROK 1894"/>
          <p:cNvSpPr txBox="1"/>
          <p:nvPr/>
        </p:nvSpPr>
        <p:spPr>
          <a:xfrm>
            <a:off x="6464808" y="4297680"/>
            <a:ext cx="2112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ROK 1894</a:t>
            </a:r>
            <a:endParaRPr lang="en-US" sz="1300" dirty="0"/>
          </a:p>
        </p:txBody>
      </p:sp>
      <p:sp>
        <p:nvSpPr>
          <p:cNvPr id="21" name="Popis – ROK 1894"/>
          <p:cNvSpPr txBox="1"/>
          <p:nvPr/>
        </p:nvSpPr>
        <p:spPr>
          <a:xfrm>
            <a:off x="6464808" y="4645152"/>
            <a:ext cx="2112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Tomáš Baťa zakládá ve Zlíně firmu – rozvoj obuvnického průmyslu</a:t>
            </a:r>
            <a:endParaRPr lang="en-US" sz="1500" dirty="0"/>
          </a:p>
        </p:txBody>
      </p:sp>
      <p:sp>
        <p:nvSpPr>
          <p:cNvPr id="22" name="Karta – 20. STOLETÍ"/>
          <p:cNvSpPr/>
          <p:nvPr/>
        </p:nvSpPr>
        <p:spPr>
          <a:xfrm>
            <a:off x="9079992" y="4069080"/>
            <a:ext cx="2569464" cy="2057400"/>
          </a:xfrm>
          <a:prstGeom prst="roundRect">
            <a:avLst>
              <a:gd name="adj" fmla="val 622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3" name="20. STOLETÍ – kruh"/>
          <p:cNvSpPr/>
          <p:nvPr/>
        </p:nvSpPr>
        <p:spPr>
          <a:xfrm>
            <a:off x="10044684" y="32918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20. STOLETÍ – 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4704" y="3451860"/>
            <a:ext cx="320040" cy="320040"/>
          </a:xfrm>
          <a:prstGeom prst="rect">
            <a:avLst/>
          </a:prstGeom>
        </p:spPr>
      </p:pic>
      <p:sp>
        <p:nvSpPr>
          <p:cNvPr id="25" name="Období – 20. STOLETÍ"/>
          <p:cNvSpPr txBox="1"/>
          <p:nvPr/>
        </p:nvSpPr>
        <p:spPr>
          <a:xfrm>
            <a:off x="9308592" y="4297680"/>
            <a:ext cx="2112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20. STOLETÍ</a:t>
            </a:r>
            <a:endParaRPr lang="en-US" sz="1300" dirty="0"/>
          </a:p>
        </p:txBody>
      </p:sp>
      <p:sp>
        <p:nvSpPr>
          <p:cNvPr id="26" name="Popis – 20. STOLETÍ"/>
          <p:cNvSpPr txBox="1"/>
          <p:nvPr/>
        </p:nvSpPr>
        <p:spPr>
          <a:xfrm>
            <a:off x="9308592" y="4645152"/>
            <a:ext cx="2112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Firma Baťa se stala světově známou značkou</a:t>
            </a:r>
            <a:endParaRPr lang="en-US" sz="1500" dirty="0"/>
          </a:p>
        </p:txBody>
      </p:sp>
      <p:sp>
        <p:nvSpPr>
          <p:cNvPr id="27" name="Popisek pozadí"/>
          <p:cNvSpPr txBox="1"/>
          <p:nvPr/>
        </p:nvSpPr>
        <p:spPr>
          <a:xfrm>
            <a:off x="548640" y="6355080"/>
            <a:ext cx="1814170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Svatý Hostýn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ARCHITEKTONICKÉ PAMÁTKY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Architektura</a:t>
            </a:r>
            <a:endParaRPr lang="en-US" sz="3600" dirty="0"/>
          </a:p>
        </p:txBody>
      </p:sp>
      <p:sp>
        <p:nvSpPr>
          <p:cNvPr id="4" name="Karta – památky"/>
          <p:cNvSpPr/>
          <p:nvPr/>
        </p:nvSpPr>
        <p:spPr>
          <a:xfrm>
            <a:off x="548640" y="1508760"/>
            <a:ext cx="6309360" cy="4617720"/>
          </a:xfrm>
          <a:prstGeom prst="roundRect">
            <a:avLst>
              <a:gd name="adj" fmla="val 277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Baťův mrakodrap (budova č. 21) – kruh"/>
          <p:cNvSpPr/>
          <p:nvPr/>
        </p:nvSpPr>
        <p:spPr>
          <a:xfrm>
            <a:off x="868680" y="173736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Baťův mrakodrap (budova č. 21) –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856232"/>
            <a:ext cx="237744" cy="237744"/>
          </a:xfrm>
          <a:prstGeom prst="rect">
            <a:avLst/>
          </a:prstGeom>
        </p:spPr>
      </p:pic>
      <p:sp>
        <p:nvSpPr>
          <p:cNvPr id="7" name="Text – Baťův mrakodrap (budova č. 21)"/>
          <p:cNvSpPr txBox="1"/>
          <p:nvPr/>
        </p:nvSpPr>
        <p:spPr>
          <a:xfrm>
            <a:off x="1572768" y="1719072"/>
            <a:ext cx="505663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Baťův mrakodrap (budova č. 21)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Postaven v roce 1938, kancelář šéfa firmy byla v pojízdném výtahu.</a:t>
            </a:r>
            <a:endParaRPr lang="en-US" sz="1500" dirty="0"/>
          </a:p>
        </p:txBody>
      </p:sp>
      <p:sp>
        <p:nvSpPr>
          <p:cNvPr id="8" name="Zámek Kroměříž – kruh"/>
          <p:cNvSpPr/>
          <p:nvPr/>
        </p:nvSpPr>
        <p:spPr>
          <a:xfrm>
            <a:off x="868680" y="262432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Zámek Kroměříž –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743200"/>
            <a:ext cx="237744" cy="237744"/>
          </a:xfrm>
          <a:prstGeom prst="rect">
            <a:avLst/>
          </a:prstGeom>
        </p:spPr>
      </p:pic>
      <p:sp>
        <p:nvSpPr>
          <p:cNvPr id="10" name="Text – Zámek Kroměříž"/>
          <p:cNvSpPr txBox="1"/>
          <p:nvPr/>
        </p:nvSpPr>
        <p:spPr>
          <a:xfrm>
            <a:off x="1572768" y="2606040"/>
            <a:ext cx="505663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Zámek Kroměříž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Barokní památka zapsaná na seznamu UNESCO</a:t>
            </a:r>
            <a:endParaRPr lang="en-US" sz="1500" dirty="0"/>
          </a:p>
        </p:txBody>
      </p:sp>
      <p:sp>
        <p:nvSpPr>
          <p:cNvPr id="11" name="Zahrady v Kroměříži – kruh"/>
          <p:cNvSpPr/>
          <p:nvPr/>
        </p:nvSpPr>
        <p:spPr>
          <a:xfrm>
            <a:off x="868680" y="351129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Zahrady v Kroměříži –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630168"/>
            <a:ext cx="237744" cy="237744"/>
          </a:xfrm>
          <a:prstGeom prst="rect">
            <a:avLst/>
          </a:prstGeom>
        </p:spPr>
      </p:pic>
      <p:sp>
        <p:nvSpPr>
          <p:cNvPr id="13" name="Text – Zahrady v Kroměříži"/>
          <p:cNvSpPr txBox="1"/>
          <p:nvPr/>
        </p:nvSpPr>
        <p:spPr>
          <a:xfrm>
            <a:off x="1572768" y="3493008"/>
            <a:ext cx="505663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Zahrady v Kroměříži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Květná a Podzámecká zahrada – také UNESCO</a:t>
            </a:r>
            <a:endParaRPr lang="en-US" sz="1500" dirty="0"/>
          </a:p>
        </p:txBody>
      </p:sp>
      <p:sp>
        <p:nvSpPr>
          <p:cNvPr id="14" name="Historické centrum Uherského Hradiště – kruh"/>
          <p:cNvSpPr/>
          <p:nvPr/>
        </p:nvSpPr>
        <p:spPr>
          <a:xfrm>
            <a:off x="868680" y="4398264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Historické centrum Uherského Hradiště – 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517136"/>
            <a:ext cx="237744" cy="237744"/>
          </a:xfrm>
          <a:prstGeom prst="rect">
            <a:avLst/>
          </a:prstGeom>
        </p:spPr>
      </p:pic>
      <p:sp>
        <p:nvSpPr>
          <p:cNvPr id="16" name="Text – Historické centrum Uherského Hradiště"/>
          <p:cNvSpPr txBox="1"/>
          <p:nvPr/>
        </p:nvSpPr>
        <p:spPr>
          <a:xfrm>
            <a:off x="1572768" y="4379976"/>
            <a:ext cx="505663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Historické centrum Uherského Hradiště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Město založil Přemysl Otakar II. ve 13. století (1257).</a:t>
            </a:r>
            <a:endParaRPr lang="en-US" sz="1500" dirty="0"/>
          </a:p>
        </p:txBody>
      </p:sp>
      <p:sp>
        <p:nvSpPr>
          <p:cNvPr id="17" name="Valašské muzeum v přírodě – kruh"/>
          <p:cNvSpPr/>
          <p:nvPr/>
        </p:nvSpPr>
        <p:spPr>
          <a:xfrm>
            <a:off x="868680" y="528523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Valašské muzeum v přírodě – ikon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552" y="5404104"/>
            <a:ext cx="237744" cy="237744"/>
          </a:xfrm>
          <a:prstGeom prst="rect">
            <a:avLst/>
          </a:prstGeom>
        </p:spPr>
      </p:pic>
      <p:sp>
        <p:nvSpPr>
          <p:cNvPr id="19" name="Text – Valašské muzeum v přírodě"/>
          <p:cNvSpPr txBox="1"/>
          <p:nvPr/>
        </p:nvSpPr>
        <p:spPr>
          <a:xfrm>
            <a:off x="1572768" y="5266944"/>
            <a:ext cx="505663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Valašské muzeum v přírodě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Dřevěné stavby v Rožnově pod Radhoštěm</a:t>
            </a:r>
            <a:endParaRPr lang="en-US" sz="1500" dirty="0"/>
          </a:p>
        </p:txBody>
      </p:sp>
      <p:sp>
        <p:nvSpPr>
          <p:cNvPr id="20" name="Popisek – kancelář ve výtahu"/>
          <p:cNvSpPr txBox="1"/>
          <p:nvPr/>
        </p:nvSpPr>
        <p:spPr>
          <a:xfrm>
            <a:off x="9189720" y="3273552"/>
            <a:ext cx="2450592" cy="402336"/>
          </a:xfrm>
          <a:prstGeom prst="roundRect">
            <a:avLst>
              <a:gd name="adj" fmla="val 50000"/>
            </a:avLst>
          </a:prstGeom>
          <a:solidFill>
            <a:schemeClr val="bg1">
              <a:alpha val="9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Žluté okno: </a:t>
            </a:r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kancelář ve výtahu</a:t>
            </a:r>
            <a:endParaRPr lang="en-US" sz="1400" dirty="0"/>
          </a:p>
        </p:txBody>
      </p:sp>
      <p:pic>
        <p:nvPicPr>
          <p:cNvPr id="21" name="Šipka na kancelář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3104" y="3310128"/>
            <a:ext cx="329184" cy="329184"/>
          </a:xfrm>
          <a:prstGeom prst="rect">
            <a:avLst/>
          </a:prstGeom>
        </p:spPr>
      </p:pic>
      <p:sp>
        <p:nvSpPr>
          <p:cNvPr id="22" name="Popisek pozadí"/>
          <p:cNvSpPr txBox="1"/>
          <p:nvPr/>
        </p:nvSpPr>
        <p:spPr>
          <a:xfrm>
            <a:off x="548640" y="6355080"/>
            <a:ext cx="3493008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Baťův mrakodrap (budova č. 21) ve Zlíně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TRADICE A KULTURA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Kulturní dědictví</a:t>
            </a:r>
            <a:endParaRPr lang="en-US" sz="3600" dirty="0"/>
          </a:p>
        </p:txBody>
      </p:sp>
      <p:sp>
        <p:nvSpPr>
          <p:cNvPr id="4" name="Karta – Valašsko a Slovácko"/>
          <p:cNvSpPr/>
          <p:nvPr/>
        </p:nvSpPr>
        <p:spPr>
          <a:xfrm>
            <a:off x="548640" y="1508760"/>
            <a:ext cx="2432304" cy="2057400"/>
          </a:xfrm>
          <a:prstGeom prst="roundRect">
            <a:avLst>
              <a:gd name="adj" fmla="val 622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Valašsko a Slovácko – kruh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Valašsko a Slovácko –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920240"/>
            <a:ext cx="274320" cy="274320"/>
          </a:xfrm>
          <a:prstGeom prst="rect">
            <a:avLst/>
          </a:prstGeom>
        </p:spPr>
      </p:pic>
      <p:sp>
        <p:nvSpPr>
          <p:cNvPr id="7" name="Text – Valašsko a Slovácko"/>
          <p:cNvSpPr txBox="1"/>
          <p:nvPr/>
        </p:nvSpPr>
        <p:spPr>
          <a:xfrm>
            <a:off x="822960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Valašsko a Slovácko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Dva národopisné regiony s bohatými tradicemi</a:t>
            </a:r>
            <a:endParaRPr lang="en-US" sz="1500" dirty="0"/>
          </a:p>
        </p:txBody>
      </p:sp>
      <p:sp>
        <p:nvSpPr>
          <p:cNvPr id="8" name="Karta – Lidové kroje"/>
          <p:cNvSpPr/>
          <p:nvPr/>
        </p:nvSpPr>
        <p:spPr>
          <a:xfrm>
            <a:off x="3218688" y="1508760"/>
            <a:ext cx="2432304" cy="2057400"/>
          </a:xfrm>
          <a:prstGeom prst="roundRect">
            <a:avLst>
              <a:gd name="adj" fmla="val 622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9" name="Lidové kroje – kruh"/>
          <p:cNvSpPr/>
          <p:nvPr/>
        </p:nvSpPr>
        <p:spPr>
          <a:xfrm>
            <a:off x="3493008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Lidové kroje –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168" y="1920240"/>
            <a:ext cx="274320" cy="274320"/>
          </a:xfrm>
          <a:prstGeom prst="rect">
            <a:avLst/>
          </a:prstGeom>
        </p:spPr>
      </p:pic>
      <p:sp>
        <p:nvSpPr>
          <p:cNvPr id="11" name="Text – Lidové kroje"/>
          <p:cNvSpPr txBox="1"/>
          <p:nvPr/>
        </p:nvSpPr>
        <p:spPr>
          <a:xfrm>
            <a:off x="3493008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Lidové kroje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Bohatě zdobené kroje s výšivkami</a:t>
            </a:r>
            <a:endParaRPr lang="en-US" sz="1500" dirty="0"/>
          </a:p>
        </p:txBody>
      </p:sp>
      <p:sp>
        <p:nvSpPr>
          <p:cNvPr id="12" name="Karta – Cimbálová muzika"/>
          <p:cNvSpPr/>
          <p:nvPr/>
        </p:nvSpPr>
        <p:spPr>
          <a:xfrm>
            <a:off x="5888736" y="1508760"/>
            <a:ext cx="2432304" cy="2057400"/>
          </a:xfrm>
          <a:prstGeom prst="roundRect">
            <a:avLst>
              <a:gd name="adj" fmla="val 622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Cimbálová muzika – kruh"/>
          <p:cNvSpPr/>
          <p:nvPr/>
        </p:nvSpPr>
        <p:spPr>
          <a:xfrm>
            <a:off x="6163056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Cimbálová muzika –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16" y="1920240"/>
            <a:ext cx="274320" cy="274320"/>
          </a:xfrm>
          <a:prstGeom prst="rect">
            <a:avLst/>
          </a:prstGeom>
        </p:spPr>
      </p:pic>
      <p:sp>
        <p:nvSpPr>
          <p:cNvPr id="15" name="Text – Cimbálová muzika"/>
          <p:cNvSpPr txBox="1"/>
          <p:nvPr/>
        </p:nvSpPr>
        <p:spPr>
          <a:xfrm>
            <a:off x="6163056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Cimbálová muzika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Hraje se na cimbál, housle a kontrabas.</a:t>
            </a:r>
            <a:endParaRPr lang="en-US" sz="1500" dirty="0"/>
          </a:p>
        </p:txBody>
      </p:sp>
      <p:sp>
        <p:nvSpPr>
          <p:cNvPr id="16" name="Karta – Jízda králů (UNESCO)"/>
          <p:cNvSpPr/>
          <p:nvPr/>
        </p:nvSpPr>
        <p:spPr>
          <a:xfrm>
            <a:off x="548640" y="3794760"/>
            <a:ext cx="2432304" cy="2057400"/>
          </a:xfrm>
          <a:prstGeom prst="roundRect">
            <a:avLst>
              <a:gd name="adj" fmla="val 622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7" name="Jízda králů (UNESCO) – kruh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Jízda králů (UNESCO) – 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206240"/>
            <a:ext cx="274320" cy="274320"/>
          </a:xfrm>
          <a:prstGeom prst="rect">
            <a:avLst/>
          </a:prstGeom>
        </p:spPr>
      </p:pic>
      <p:sp>
        <p:nvSpPr>
          <p:cNvPr id="19" name="Text – Jízda králů (UNESCO)"/>
          <p:cNvSpPr txBox="1"/>
          <p:nvPr/>
        </p:nvSpPr>
        <p:spPr>
          <a:xfrm>
            <a:off x="822960" y="4754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Jízda králů (UNESCO)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Král projíždí na koni obcí se svou družinou.</a:t>
            </a:r>
            <a:endParaRPr lang="en-US" sz="1500" dirty="0"/>
          </a:p>
        </p:txBody>
      </p:sp>
      <p:sp>
        <p:nvSpPr>
          <p:cNvPr id="20" name="Karta – Vinařské slavnosti"/>
          <p:cNvSpPr/>
          <p:nvPr/>
        </p:nvSpPr>
        <p:spPr>
          <a:xfrm>
            <a:off x="3218688" y="3794760"/>
            <a:ext cx="2432304" cy="2057400"/>
          </a:xfrm>
          <a:prstGeom prst="roundRect">
            <a:avLst>
              <a:gd name="adj" fmla="val 622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1" name="Vinařské slavnosti – kruh"/>
          <p:cNvSpPr/>
          <p:nvPr/>
        </p:nvSpPr>
        <p:spPr>
          <a:xfrm>
            <a:off x="3493008" y="4069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Vinařské slavnosti – ikon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0168" y="4206240"/>
            <a:ext cx="274320" cy="274320"/>
          </a:xfrm>
          <a:prstGeom prst="rect">
            <a:avLst/>
          </a:prstGeom>
        </p:spPr>
      </p:pic>
      <p:sp>
        <p:nvSpPr>
          <p:cNvPr id="23" name="Text – Vinařské slavnosti"/>
          <p:cNvSpPr txBox="1"/>
          <p:nvPr/>
        </p:nvSpPr>
        <p:spPr>
          <a:xfrm>
            <a:off x="3493008" y="4754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Vinařské slavnosti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Oslavy vína a vinobraní na Slovácku</a:t>
            </a:r>
            <a:endParaRPr lang="en-US" sz="1500" dirty="0"/>
          </a:p>
        </p:txBody>
      </p:sp>
      <p:sp>
        <p:nvSpPr>
          <p:cNvPr id="24" name="Karta – Folklorní festivaly"/>
          <p:cNvSpPr/>
          <p:nvPr/>
        </p:nvSpPr>
        <p:spPr>
          <a:xfrm>
            <a:off x="5888736" y="3794760"/>
            <a:ext cx="2432304" cy="2057400"/>
          </a:xfrm>
          <a:prstGeom prst="roundRect">
            <a:avLst>
              <a:gd name="adj" fmla="val 622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5" name="Folklorní festivaly – kruh"/>
          <p:cNvSpPr/>
          <p:nvPr/>
        </p:nvSpPr>
        <p:spPr>
          <a:xfrm>
            <a:off x="6163056" y="4069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Folklorní festivaly – ikon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0216" y="4206240"/>
            <a:ext cx="274320" cy="274320"/>
          </a:xfrm>
          <a:prstGeom prst="rect">
            <a:avLst/>
          </a:prstGeom>
        </p:spPr>
      </p:pic>
      <p:sp>
        <p:nvSpPr>
          <p:cNvPr id="27" name="Text – Folklorní festivaly"/>
          <p:cNvSpPr txBox="1"/>
          <p:nvPr/>
        </p:nvSpPr>
        <p:spPr>
          <a:xfrm>
            <a:off x="6163056" y="4754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Folklorní festivaly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Lidové písně, tance a kroje</a:t>
            </a:r>
            <a:endParaRPr lang="en-US" sz="1500" dirty="0"/>
          </a:p>
        </p:txBody>
      </p:sp>
      <p:sp>
        <p:nvSpPr>
          <p:cNvPr id="28" name="Popisek pozadí"/>
          <p:cNvSpPr txBox="1"/>
          <p:nvPr/>
        </p:nvSpPr>
        <p:spPr>
          <a:xfrm>
            <a:off x="548640" y="6355080"/>
            <a:ext cx="2560320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slovácký lidový ornament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SVĚTOVÉ DĚDICTVÍ UNESCO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Památky UNESCO</a:t>
            </a:r>
            <a:endParaRPr lang="en-US" sz="3600" dirty="0"/>
          </a:p>
        </p:txBody>
      </p:sp>
      <p:sp>
        <p:nvSpPr>
          <p:cNvPr id="4" name="Karta – úvod UNESCO"/>
          <p:cNvSpPr/>
          <p:nvPr/>
        </p:nvSpPr>
        <p:spPr>
          <a:xfrm>
            <a:off x="548640" y="1508760"/>
            <a:ext cx="5669280" cy="1600200"/>
          </a:xfrm>
          <a:prstGeom prst="roundRect">
            <a:avLst>
              <a:gd name="adj" fmla="val 8000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Úvod UNESCO"/>
          <p:cNvSpPr txBox="1"/>
          <p:nvPr/>
        </p:nvSpPr>
        <p:spPr>
          <a:xfrm>
            <a:off x="868680" y="1645920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Zahrady a zámek v Kroměříži jsou od roku 1998 na seznamu světového dědictví UNESCO.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Tyto památky patří mezi nejvýznamnější historické objekty České republiky.</a:t>
            </a:r>
            <a:endParaRPr lang="en-US" sz="1600" dirty="0"/>
          </a:p>
        </p:txBody>
      </p:sp>
      <p:sp>
        <p:nvSpPr>
          <p:cNvPr id="6" name="Karta – Arcibiskupský zámek"/>
          <p:cNvSpPr/>
          <p:nvPr/>
        </p:nvSpPr>
        <p:spPr>
          <a:xfrm>
            <a:off x="548640" y="4617720"/>
            <a:ext cx="3511296" cy="1417320"/>
          </a:xfrm>
          <a:prstGeom prst="roundRect">
            <a:avLst>
              <a:gd name="adj" fmla="val 903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7" name="Arcibiskupský zámek – kruh"/>
          <p:cNvSpPr/>
          <p:nvPr/>
        </p:nvSpPr>
        <p:spPr>
          <a:xfrm>
            <a:off x="822960" y="4846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Arcibiskupský zámek –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983480"/>
            <a:ext cx="274320" cy="274320"/>
          </a:xfrm>
          <a:prstGeom prst="rect">
            <a:avLst/>
          </a:prstGeom>
        </p:spPr>
      </p:pic>
      <p:sp>
        <p:nvSpPr>
          <p:cNvPr id="9" name="Text – Arcibiskupský zámek"/>
          <p:cNvSpPr txBox="1"/>
          <p:nvPr/>
        </p:nvSpPr>
        <p:spPr>
          <a:xfrm>
            <a:off x="1554480" y="4818888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Arcibiskupský zámek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Barokní sídlo olomouckých biskupů a arcibiskupů</a:t>
            </a:r>
            <a:endParaRPr lang="en-US" sz="1500" dirty="0"/>
          </a:p>
        </p:txBody>
      </p:sp>
      <p:sp>
        <p:nvSpPr>
          <p:cNvPr id="10" name="Karta – Podzámecká zahrada"/>
          <p:cNvSpPr/>
          <p:nvPr/>
        </p:nvSpPr>
        <p:spPr>
          <a:xfrm>
            <a:off x="4338828" y="4617720"/>
            <a:ext cx="3511296" cy="1417320"/>
          </a:xfrm>
          <a:prstGeom prst="roundRect">
            <a:avLst>
              <a:gd name="adj" fmla="val 903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1" name="Podzámecká zahrada – kruh"/>
          <p:cNvSpPr/>
          <p:nvPr/>
        </p:nvSpPr>
        <p:spPr>
          <a:xfrm>
            <a:off x="4613148" y="4846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Podzámecká zahrada –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308" y="4983480"/>
            <a:ext cx="274320" cy="274320"/>
          </a:xfrm>
          <a:prstGeom prst="rect">
            <a:avLst/>
          </a:prstGeom>
        </p:spPr>
      </p:pic>
      <p:sp>
        <p:nvSpPr>
          <p:cNvPr id="13" name="Text – Podzámecká zahrada"/>
          <p:cNvSpPr txBox="1"/>
          <p:nvPr/>
        </p:nvSpPr>
        <p:spPr>
          <a:xfrm>
            <a:off x="5344668" y="4818888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Podzámecká zahrada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Rozlehlý park přímo u zámku</a:t>
            </a:r>
            <a:endParaRPr lang="en-US" sz="1500" dirty="0"/>
          </a:p>
        </p:txBody>
      </p:sp>
      <p:sp>
        <p:nvSpPr>
          <p:cNvPr id="14" name="Karta – Květná zahrada"/>
          <p:cNvSpPr/>
          <p:nvPr/>
        </p:nvSpPr>
        <p:spPr>
          <a:xfrm>
            <a:off x="8129016" y="4617720"/>
            <a:ext cx="3511296" cy="1417320"/>
          </a:xfrm>
          <a:prstGeom prst="roundRect">
            <a:avLst>
              <a:gd name="adj" fmla="val 903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5" name="Květná zahrada – kruh"/>
          <p:cNvSpPr/>
          <p:nvPr/>
        </p:nvSpPr>
        <p:spPr>
          <a:xfrm>
            <a:off x="8403336" y="4846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Květná zahrada –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0496" y="4983480"/>
            <a:ext cx="274320" cy="274320"/>
          </a:xfrm>
          <a:prstGeom prst="rect">
            <a:avLst/>
          </a:prstGeom>
        </p:spPr>
      </p:pic>
      <p:sp>
        <p:nvSpPr>
          <p:cNvPr id="17" name="Text – Květná zahrada"/>
          <p:cNvSpPr txBox="1"/>
          <p:nvPr/>
        </p:nvSpPr>
        <p:spPr>
          <a:xfrm>
            <a:off x="9134856" y="4818888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Květná zahrada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Barokní zahrada s rotundou a dlouhou kolonádou</a:t>
            </a:r>
            <a:endParaRPr lang="en-US" sz="1500" dirty="0"/>
          </a:p>
        </p:txBody>
      </p:sp>
      <p:sp>
        <p:nvSpPr>
          <p:cNvPr id="18" name="Popisek pozadí"/>
          <p:cNvSpPr txBox="1"/>
          <p:nvPr/>
        </p:nvSpPr>
        <p:spPr>
          <a:xfrm>
            <a:off x="548640" y="6355080"/>
            <a:ext cx="2684678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Květná zahrada v Kroměříži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arta – oddíl 2"/>
          <p:cNvSpPr/>
          <p:nvPr/>
        </p:nvSpPr>
        <p:spPr>
          <a:xfrm>
            <a:off x="548640" y="1508760"/>
            <a:ext cx="5760720" cy="3246120"/>
          </a:xfrm>
          <a:prstGeom prst="roundRect">
            <a:avLst>
              <a:gd name="adj" fmla="val 3944"/>
            </a:avLst>
          </a:prstGeom>
          <a:solidFill>
            <a:schemeClr val="bg1">
              <a:alpha val="90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960120" y="18745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ČÁST 2</a:t>
            </a:r>
            <a:endParaRPr lang="en-US" sz="15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960120" y="22860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Turistika a sport</a:t>
            </a:r>
            <a:endParaRPr lang="en-US" sz="4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960120" y="38862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Poutní místa, Baťův kanál, hory i slavné akce</a:t>
            </a:r>
            <a:endParaRPr lang="en-US" sz="1800" dirty="0"/>
          </a:p>
        </p:txBody>
      </p:sp>
      <p:sp>
        <p:nvSpPr>
          <p:cNvPr id="6" name="Popisek pozadí"/>
          <p:cNvSpPr txBox="1"/>
          <p:nvPr/>
        </p:nvSpPr>
        <p:spPr>
          <a:xfrm>
            <a:off x="548640" y="6355080"/>
            <a:ext cx="2560320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Pustevny – chata Libušín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CO NAVŠTÍVIT?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Turistické atrakce</a:t>
            </a:r>
            <a:endParaRPr lang="en-US" sz="3600" dirty="0"/>
          </a:p>
        </p:txBody>
      </p:sp>
      <p:sp>
        <p:nvSpPr>
          <p:cNvPr id="4" name="Karta – Velehrad"/>
          <p:cNvSpPr/>
          <p:nvPr/>
        </p:nvSpPr>
        <p:spPr>
          <a:xfrm>
            <a:off x="548640" y="1508760"/>
            <a:ext cx="2567178" cy="2194560"/>
          </a:xfrm>
          <a:prstGeom prst="roundRect">
            <a:avLst>
              <a:gd name="adj" fmla="val 583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Velehrad – kruh"/>
          <p:cNvSpPr/>
          <p:nvPr/>
        </p:nvSpPr>
        <p:spPr>
          <a:xfrm>
            <a:off x="804672" y="17647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Velehrad –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402" y="1890522"/>
            <a:ext cx="251460" cy="251460"/>
          </a:xfrm>
          <a:prstGeom prst="rect">
            <a:avLst/>
          </a:prstGeom>
        </p:spPr>
      </p:pic>
      <p:sp>
        <p:nvSpPr>
          <p:cNvPr id="7" name="Text – Velehrad"/>
          <p:cNvSpPr txBox="1"/>
          <p:nvPr/>
        </p:nvSpPr>
        <p:spPr>
          <a:xfrm>
            <a:off x="804672" y="2404872"/>
            <a:ext cx="210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Velehrad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Poutní místo spojené s Cyrilem a Metodějem</a:t>
            </a:r>
            <a:endParaRPr lang="en-US" sz="1500" dirty="0"/>
          </a:p>
        </p:txBody>
      </p:sp>
      <p:sp>
        <p:nvSpPr>
          <p:cNvPr id="8" name="Karta – Svatý Hostýn"/>
          <p:cNvSpPr/>
          <p:nvPr/>
        </p:nvSpPr>
        <p:spPr>
          <a:xfrm>
            <a:off x="3390138" y="1508760"/>
            <a:ext cx="2567178" cy="2194560"/>
          </a:xfrm>
          <a:prstGeom prst="roundRect">
            <a:avLst>
              <a:gd name="adj" fmla="val 583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9" name="Svatý Hostýn – kruh"/>
          <p:cNvSpPr/>
          <p:nvPr/>
        </p:nvSpPr>
        <p:spPr>
          <a:xfrm>
            <a:off x="3646170" y="17647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Svatý Hostýn –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0" y="1890522"/>
            <a:ext cx="251460" cy="251460"/>
          </a:xfrm>
          <a:prstGeom prst="rect">
            <a:avLst/>
          </a:prstGeom>
        </p:spPr>
      </p:pic>
      <p:sp>
        <p:nvSpPr>
          <p:cNvPr id="11" name="Text – Svatý Hostýn"/>
          <p:cNvSpPr txBox="1"/>
          <p:nvPr/>
        </p:nvSpPr>
        <p:spPr>
          <a:xfrm>
            <a:off x="3646170" y="2404872"/>
            <a:ext cx="210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Svatý Hostýn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Poutní místo s bazilikou a křížovou cestou</a:t>
            </a:r>
            <a:endParaRPr lang="en-US" sz="1500" dirty="0"/>
          </a:p>
        </p:txBody>
      </p:sp>
      <p:sp>
        <p:nvSpPr>
          <p:cNvPr id="12" name="Karta – Baťův kanál"/>
          <p:cNvSpPr/>
          <p:nvPr/>
        </p:nvSpPr>
        <p:spPr>
          <a:xfrm>
            <a:off x="6231636" y="1508760"/>
            <a:ext cx="2567178" cy="2194560"/>
          </a:xfrm>
          <a:prstGeom prst="roundRect">
            <a:avLst>
              <a:gd name="adj" fmla="val 583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Baťův kanál – kruh"/>
          <p:cNvSpPr/>
          <p:nvPr/>
        </p:nvSpPr>
        <p:spPr>
          <a:xfrm>
            <a:off x="6487668" y="17647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Baťův kanál –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3398" y="1890522"/>
            <a:ext cx="251460" cy="251460"/>
          </a:xfrm>
          <a:prstGeom prst="rect">
            <a:avLst/>
          </a:prstGeom>
        </p:spPr>
      </p:pic>
      <p:sp>
        <p:nvSpPr>
          <p:cNvPr id="15" name="Text – Baťův kanál"/>
          <p:cNvSpPr txBox="1"/>
          <p:nvPr/>
        </p:nvSpPr>
        <p:spPr>
          <a:xfrm>
            <a:off x="6487668" y="2404872"/>
            <a:ext cx="210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Baťův kanál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Vodní cesta z Otrokovic do Hodonína (cca 60 km)</a:t>
            </a:r>
            <a:endParaRPr lang="en-US" sz="1500" dirty="0"/>
          </a:p>
        </p:txBody>
      </p:sp>
      <p:sp>
        <p:nvSpPr>
          <p:cNvPr id="16" name="Karta – Zoo Zlín-Lešná"/>
          <p:cNvSpPr/>
          <p:nvPr/>
        </p:nvSpPr>
        <p:spPr>
          <a:xfrm>
            <a:off x="9073134" y="1508760"/>
            <a:ext cx="2567178" cy="2194560"/>
          </a:xfrm>
          <a:prstGeom prst="roundRect">
            <a:avLst>
              <a:gd name="adj" fmla="val 583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7" name="Zoo Zlín-Lešná – kruh"/>
          <p:cNvSpPr/>
          <p:nvPr/>
        </p:nvSpPr>
        <p:spPr>
          <a:xfrm>
            <a:off x="9329166" y="17647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Zoo Zlín-Lešná – 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4896" y="1890522"/>
            <a:ext cx="251460" cy="251460"/>
          </a:xfrm>
          <a:prstGeom prst="rect">
            <a:avLst/>
          </a:prstGeom>
        </p:spPr>
      </p:pic>
      <p:sp>
        <p:nvSpPr>
          <p:cNvPr id="19" name="Text – Zoo Zlín-Lešná"/>
          <p:cNvSpPr txBox="1"/>
          <p:nvPr/>
        </p:nvSpPr>
        <p:spPr>
          <a:xfrm>
            <a:off x="9329166" y="2404872"/>
            <a:ext cx="210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Zoo Zlín-Lešná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Zoologická zahrada se zámkem – nejnavštěvovanější cíl kraje</a:t>
            </a:r>
            <a:endParaRPr lang="en-US" sz="1500" dirty="0"/>
          </a:p>
        </p:txBody>
      </p:sp>
      <p:sp>
        <p:nvSpPr>
          <p:cNvPr id="20" name="Karta – Rožnov pod Radhoštěm"/>
          <p:cNvSpPr/>
          <p:nvPr/>
        </p:nvSpPr>
        <p:spPr>
          <a:xfrm>
            <a:off x="548640" y="3931920"/>
            <a:ext cx="3514039" cy="2194560"/>
          </a:xfrm>
          <a:prstGeom prst="roundRect">
            <a:avLst>
              <a:gd name="adj" fmla="val 583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1" name="Rožnov pod Radhoštěm – kruh"/>
          <p:cNvSpPr/>
          <p:nvPr/>
        </p:nvSpPr>
        <p:spPr>
          <a:xfrm>
            <a:off x="804672" y="41879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Rožnov pod Radhoštěm – ikon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402" y="4313682"/>
            <a:ext cx="251460" cy="251460"/>
          </a:xfrm>
          <a:prstGeom prst="rect">
            <a:avLst/>
          </a:prstGeom>
        </p:spPr>
      </p:pic>
      <p:sp>
        <p:nvSpPr>
          <p:cNvPr id="23" name="Text – Rožnov pod Radhoštěm"/>
          <p:cNvSpPr txBox="1"/>
          <p:nvPr/>
        </p:nvSpPr>
        <p:spPr>
          <a:xfrm>
            <a:off x="804672" y="4828032"/>
            <a:ext cx="305683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Rožnov pod Radhoštěm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Valašské muzeum v přírodě</a:t>
            </a:r>
            <a:endParaRPr lang="en-US" sz="1500" dirty="0"/>
          </a:p>
        </p:txBody>
      </p:sp>
      <p:sp>
        <p:nvSpPr>
          <p:cNvPr id="24" name="Karta – Pustevny"/>
          <p:cNvSpPr/>
          <p:nvPr/>
        </p:nvSpPr>
        <p:spPr>
          <a:xfrm>
            <a:off x="4336999" y="3931920"/>
            <a:ext cx="3514039" cy="2194560"/>
          </a:xfrm>
          <a:prstGeom prst="roundRect">
            <a:avLst>
              <a:gd name="adj" fmla="val 583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5" name="Pustevny – kruh"/>
          <p:cNvSpPr/>
          <p:nvPr/>
        </p:nvSpPr>
        <p:spPr>
          <a:xfrm>
            <a:off x="4593031" y="41879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Pustevny – ikon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8761" y="4313682"/>
            <a:ext cx="251460" cy="251460"/>
          </a:xfrm>
          <a:prstGeom prst="rect">
            <a:avLst/>
          </a:prstGeom>
        </p:spPr>
      </p:pic>
      <p:sp>
        <p:nvSpPr>
          <p:cNvPr id="27" name="Text – Pustevny"/>
          <p:cNvSpPr txBox="1"/>
          <p:nvPr/>
        </p:nvSpPr>
        <p:spPr>
          <a:xfrm>
            <a:off x="4593031" y="4828032"/>
            <a:ext cx="305683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Pustevny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Horské turistické středisko, lanová dráha, stezka Valaška</a:t>
            </a:r>
            <a:endParaRPr lang="en-US" sz="1500" dirty="0"/>
          </a:p>
        </p:txBody>
      </p:sp>
      <p:sp>
        <p:nvSpPr>
          <p:cNvPr id="28" name="Karta – Kroměříž"/>
          <p:cNvSpPr/>
          <p:nvPr/>
        </p:nvSpPr>
        <p:spPr>
          <a:xfrm>
            <a:off x="8125358" y="3931920"/>
            <a:ext cx="3514039" cy="2194560"/>
          </a:xfrm>
          <a:prstGeom prst="roundRect">
            <a:avLst>
              <a:gd name="adj" fmla="val 583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9" name="Kroměříž – kruh"/>
          <p:cNvSpPr/>
          <p:nvPr/>
        </p:nvSpPr>
        <p:spPr>
          <a:xfrm>
            <a:off x="8381390" y="41879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Kroměříž – ikon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7120" y="4313682"/>
            <a:ext cx="251460" cy="251460"/>
          </a:xfrm>
          <a:prstGeom prst="rect">
            <a:avLst/>
          </a:prstGeom>
        </p:spPr>
      </p:pic>
      <p:sp>
        <p:nvSpPr>
          <p:cNvPr id="31" name="Text – Kroměříž"/>
          <p:cNvSpPr txBox="1"/>
          <p:nvPr/>
        </p:nvSpPr>
        <p:spPr>
          <a:xfrm>
            <a:off x="8381390" y="4828032"/>
            <a:ext cx="305683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Kroměříž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Arcibiskupský zámek a zahrady (UNESCO)</a:t>
            </a:r>
            <a:endParaRPr lang="en-US" sz="1500" dirty="0"/>
          </a:p>
        </p:txBody>
      </p:sp>
      <p:sp>
        <p:nvSpPr>
          <p:cNvPr id="32" name="Popisek pozadí"/>
          <p:cNvSpPr txBox="1"/>
          <p:nvPr/>
        </p:nvSpPr>
        <p:spPr>
          <a:xfrm>
            <a:off x="548640" y="6355080"/>
            <a:ext cx="1751990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Baťův kanál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SPORTOVNÍ KLUBY A OBLÍBENÉ SPORTY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Sport ve Zlínském kraji</a:t>
            </a:r>
            <a:endParaRPr lang="en-US" sz="3600" dirty="0"/>
          </a:p>
        </p:txBody>
      </p:sp>
      <p:sp>
        <p:nvSpPr>
          <p:cNvPr id="4" name="Karta – kluby"/>
          <p:cNvSpPr/>
          <p:nvPr/>
        </p:nvSpPr>
        <p:spPr>
          <a:xfrm>
            <a:off x="548640" y="1508760"/>
            <a:ext cx="6400800" cy="4617720"/>
          </a:xfrm>
          <a:prstGeom prst="roundRect">
            <a:avLst>
              <a:gd name="adj" fmla="val 277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Nadpis – kluby"/>
          <p:cNvSpPr txBox="1"/>
          <p:nvPr/>
        </p:nvSpPr>
        <p:spPr>
          <a:xfrm>
            <a:off x="868680" y="1737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Sportovní kluby</a:t>
            </a:r>
            <a:endParaRPr lang="en-US" sz="2000" dirty="0"/>
          </a:p>
        </p:txBody>
      </p:sp>
      <p:sp>
        <p:nvSpPr>
          <p:cNvPr id="6" name="Klub – FC Zlín"/>
          <p:cNvSpPr/>
          <p:nvPr/>
        </p:nvSpPr>
        <p:spPr>
          <a:xfrm>
            <a:off x="868680" y="2377440"/>
            <a:ext cx="2743200" cy="1554480"/>
          </a:xfrm>
          <a:prstGeom prst="roundRect">
            <a:avLst>
              <a:gd name="adj" fmla="val 8235"/>
            </a:avLst>
          </a:prstGeom>
          <a:solidFill>
            <a:schemeClr val="bg2"/>
          </a:solidFill>
          <a:ln/>
        </p:spPr>
      </p:sp>
      <p:sp>
        <p:nvSpPr>
          <p:cNvPr id="7" name="FC Zlín – kruh"/>
          <p:cNvSpPr/>
          <p:nvPr/>
        </p:nvSpPr>
        <p:spPr>
          <a:xfrm>
            <a:off x="1097280" y="26060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8" name="FC Zlín –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743200"/>
            <a:ext cx="274320" cy="274320"/>
          </a:xfrm>
          <a:prstGeom prst="rect">
            <a:avLst/>
          </a:prstGeom>
        </p:spPr>
      </p:pic>
      <p:sp>
        <p:nvSpPr>
          <p:cNvPr id="9" name="Text – FC Zlín"/>
          <p:cNvSpPr txBox="1"/>
          <p:nvPr/>
        </p:nvSpPr>
        <p:spPr>
          <a:xfrm>
            <a:off x="1097280" y="32461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FC Zlín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fotbal</a:t>
            </a:r>
            <a:endParaRPr lang="en-US" sz="1500" dirty="0"/>
          </a:p>
        </p:txBody>
      </p:sp>
      <p:sp>
        <p:nvSpPr>
          <p:cNvPr id="10" name="Klub – Berani Zlín"/>
          <p:cNvSpPr/>
          <p:nvPr/>
        </p:nvSpPr>
        <p:spPr>
          <a:xfrm>
            <a:off x="3840480" y="2377440"/>
            <a:ext cx="2743200" cy="1554480"/>
          </a:xfrm>
          <a:prstGeom prst="roundRect">
            <a:avLst>
              <a:gd name="adj" fmla="val 8235"/>
            </a:avLst>
          </a:prstGeom>
          <a:solidFill>
            <a:schemeClr val="bg2"/>
          </a:solidFill>
          <a:ln/>
        </p:spPr>
      </p:sp>
      <p:sp>
        <p:nvSpPr>
          <p:cNvPr id="11" name="Berani Zlín – kruh"/>
          <p:cNvSpPr/>
          <p:nvPr/>
        </p:nvSpPr>
        <p:spPr>
          <a:xfrm>
            <a:off x="4069080" y="26060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Berani Zlín –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2743200"/>
            <a:ext cx="274320" cy="274320"/>
          </a:xfrm>
          <a:prstGeom prst="rect">
            <a:avLst/>
          </a:prstGeom>
        </p:spPr>
      </p:pic>
      <p:sp>
        <p:nvSpPr>
          <p:cNvPr id="13" name="Text – Berani Zlín"/>
          <p:cNvSpPr txBox="1"/>
          <p:nvPr/>
        </p:nvSpPr>
        <p:spPr>
          <a:xfrm>
            <a:off x="4069080" y="32461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Berani Zlín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hokej</a:t>
            </a:r>
            <a:endParaRPr lang="en-US" sz="1500" dirty="0"/>
          </a:p>
        </p:txBody>
      </p:sp>
      <p:sp>
        <p:nvSpPr>
          <p:cNvPr id="14" name="Klub – FC Slovácko"/>
          <p:cNvSpPr/>
          <p:nvPr/>
        </p:nvSpPr>
        <p:spPr>
          <a:xfrm>
            <a:off x="868680" y="4160520"/>
            <a:ext cx="2743200" cy="1554480"/>
          </a:xfrm>
          <a:prstGeom prst="roundRect">
            <a:avLst>
              <a:gd name="adj" fmla="val 8235"/>
            </a:avLst>
          </a:prstGeom>
          <a:solidFill>
            <a:schemeClr val="bg2"/>
          </a:solidFill>
          <a:ln/>
        </p:spPr>
      </p:sp>
      <p:sp>
        <p:nvSpPr>
          <p:cNvPr id="15" name="FC Slovácko – kruh"/>
          <p:cNvSpPr/>
          <p:nvPr/>
        </p:nvSpPr>
        <p:spPr>
          <a:xfrm>
            <a:off x="1097280" y="438912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FC Slovácko –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4526280"/>
            <a:ext cx="274320" cy="274320"/>
          </a:xfrm>
          <a:prstGeom prst="rect">
            <a:avLst/>
          </a:prstGeom>
        </p:spPr>
      </p:pic>
      <p:sp>
        <p:nvSpPr>
          <p:cNvPr id="17" name="Text – FC Slovácko"/>
          <p:cNvSpPr txBox="1"/>
          <p:nvPr/>
        </p:nvSpPr>
        <p:spPr>
          <a:xfrm>
            <a:off x="1097280" y="50292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FC Slovácko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fotbal</a:t>
            </a:r>
            <a:endParaRPr lang="en-US" sz="1500" dirty="0"/>
          </a:p>
        </p:txBody>
      </p:sp>
      <p:sp>
        <p:nvSpPr>
          <p:cNvPr id="18" name="Klub – VHK Vsetín"/>
          <p:cNvSpPr/>
          <p:nvPr/>
        </p:nvSpPr>
        <p:spPr>
          <a:xfrm>
            <a:off x="3840480" y="4160520"/>
            <a:ext cx="2743200" cy="1554480"/>
          </a:xfrm>
          <a:prstGeom prst="roundRect">
            <a:avLst>
              <a:gd name="adj" fmla="val 8235"/>
            </a:avLst>
          </a:prstGeom>
          <a:solidFill>
            <a:schemeClr val="bg2"/>
          </a:solidFill>
          <a:ln/>
        </p:spPr>
      </p:sp>
      <p:sp>
        <p:nvSpPr>
          <p:cNvPr id="19" name="VHK Vsetín – kruh"/>
          <p:cNvSpPr/>
          <p:nvPr/>
        </p:nvSpPr>
        <p:spPr>
          <a:xfrm>
            <a:off x="4069080" y="438912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VHK Vsetín – 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526280"/>
            <a:ext cx="274320" cy="274320"/>
          </a:xfrm>
          <a:prstGeom prst="rect">
            <a:avLst/>
          </a:prstGeom>
        </p:spPr>
      </p:pic>
      <p:sp>
        <p:nvSpPr>
          <p:cNvPr id="21" name="Text – VHK Vsetín"/>
          <p:cNvSpPr txBox="1"/>
          <p:nvPr/>
        </p:nvSpPr>
        <p:spPr>
          <a:xfrm>
            <a:off x="4069080" y="50292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VHK Vsetín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hokej</a:t>
            </a:r>
            <a:endParaRPr lang="en-US" sz="1500" dirty="0"/>
          </a:p>
        </p:txBody>
      </p:sp>
      <p:sp>
        <p:nvSpPr>
          <p:cNvPr id="22" name="Karta – sporty"/>
          <p:cNvSpPr/>
          <p:nvPr/>
        </p:nvSpPr>
        <p:spPr>
          <a:xfrm>
            <a:off x="7223760" y="1508760"/>
            <a:ext cx="4416552" cy="4617720"/>
          </a:xfrm>
          <a:prstGeom prst="roundRect">
            <a:avLst>
              <a:gd name="adj" fmla="val 2899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3" name="Nadpis – sporty"/>
          <p:cNvSpPr txBox="1"/>
          <p:nvPr/>
        </p:nvSpPr>
        <p:spPr>
          <a:xfrm>
            <a:off x="7543800" y="17373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Oblíbené sporty</a:t>
            </a:r>
            <a:endParaRPr lang="en-US" sz="2000" dirty="0"/>
          </a:p>
        </p:txBody>
      </p:sp>
      <p:sp>
        <p:nvSpPr>
          <p:cNvPr id="24" name="Fotbal – kruh"/>
          <p:cNvSpPr/>
          <p:nvPr/>
        </p:nvSpPr>
        <p:spPr>
          <a:xfrm>
            <a:off x="7543800" y="237744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otbal – ikon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2672" y="2496312"/>
            <a:ext cx="237744" cy="237744"/>
          </a:xfrm>
          <a:prstGeom prst="rect">
            <a:avLst/>
          </a:prstGeom>
        </p:spPr>
      </p:pic>
      <p:sp>
        <p:nvSpPr>
          <p:cNvPr id="26" name="Sport – Fotbal"/>
          <p:cNvSpPr txBox="1"/>
          <p:nvPr/>
        </p:nvSpPr>
        <p:spPr>
          <a:xfrm>
            <a:off x="8229600" y="2377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Fotbal</a:t>
            </a:r>
            <a:endParaRPr lang="en-US" sz="1700" dirty="0"/>
          </a:p>
        </p:txBody>
      </p:sp>
      <p:sp>
        <p:nvSpPr>
          <p:cNvPr id="27" name="Hokej – kruh"/>
          <p:cNvSpPr/>
          <p:nvPr/>
        </p:nvSpPr>
        <p:spPr>
          <a:xfrm>
            <a:off x="7543800" y="310896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Hokej – ikon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2672" y="3227832"/>
            <a:ext cx="237744" cy="237744"/>
          </a:xfrm>
          <a:prstGeom prst="rect">
            <a:avLst/>
          </a:prstGeom>
        </p:spPr>
      </p:pic>
      <p:sp>
        <p:nvSpPr>
          <p:cNvPr id="29" name="Sport – Hokej"/>
          <p:cNvSpPr txBox="1"/>
          <p:nvPr/>
        </p:nvSpPr>
        <p:spPr>
          <a:xfrm>
            <a:off x="8229600" y="310896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Hokej</a:t>
            </a:r>
            <a:endParaRPr lang="en-US" sz="1700" dirty="0"/>
          </a:p>
        </p:txBody>
      </p:sp>
      <p:sp>
        <p:nvSpPr>
          <p:cNvPr id="30" name="Cyklistika – kruh"/>
          <p:cNvSpPr/>
          <p:nvPr/>
        </p:nvSpPr>
        <p:spPr>
          <a:xfrm>
            <a:off x="7543800" y="384048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Cyklistika – ikon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2672" y="3959352"/>
            <a:ext cx="237744" cy="237744"/>
          </a:xfrm>
          <a:prstGeom prst="rect">
            <a:avLst/>
          </a:prstGeom>
        </p:spPr>
      </p:pic>
      <p:sp>
        <p:nvSpPr>
          <p:cNvPr id="32" name="Sport – Cyklistika"/>
          <p:cNvSpPr txBox="1"/>
          <p:nvPr/>
        </p:nvSpPr>
        <p:spPr>
          <a:xfrm>
            <a:off x="8229600" y="384048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Cyklistika</a:t>
            </a:r>
            <a:endParaRPr lang="en-US" sz="1700" dirty="0"/>
          </a:p>
        </p:txBody>
      </p:sp>
      <p:sp>
        <p:nvSpPr>
          <p:cNvPr id="33" name="Turistika – kruh"/>
          <p:cNvSpPr/>
          <p:nvPr/>
        </p:nvSpPr>
        <p:spPr>
          <a:xfrm>
            <a:off x="7543800" y="457200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Turistika – ikona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2672" y="4690872"/>
            <a:ext cx="237744" cy="237744"/>
          </a:xfrm>
          <a:prstGeom prst="rect">
            <a:avLst/>
          </a:prstGeom>
        </p:spPr>
      </p:pic>
      <p:sp>
        <p:nvSpPr>
          <p:cNvPr id="35" name="Sport – Turistika"/>
          <p:cNvSpPr txBox="1"/>
          <p:nvPr/>
        </p:nvSpPr>
        <p:spPr>
          <a:xfrm>
            <a:off x="8229600" y="457200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Turistika</a:t>
            </a:r>
            <a:endParaRPr lang="en-US" sz="1700" dirty="0"/>
          </a:p>
        </p:txBody>
      </p:sp>
      <p:sp>
        <p:nvSpPr>
          <p:cNvPr id="36" name="Lyžování v Beskydech – kruh"/>
          <p:cNvSpPr/>
          <p:nvPr/>
        </p:nvSpPr>
        <p:spPr>
          <a:xfrm>
            <a:off x="7543800" y="530352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7" name="Lyžování v Beskydech – ikona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62672" y="5422392"/>
            <a:ext cx="237744" cy="237744"/>
          </a:xfrm>
          <a:prstGeom prst="rect">
            <a:avLst/>
          </a:prstGeom>
        </p:spPr>
      </p:pic>
      <p:sp>
        <p:nvSpPr>
          <p:cNvPr id="38" name="Sport – Lyžování v Beskydech"/>
          <p:cNvSpPr txBox="1"/>
          <p:nvPr/>
        </p:nvSpPr>
        <p:spPr>
          <a:xfrm>
            <a:off x="8229600" y="53035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Lyžování v Beskydech</a:t>
            </a:r>
            <a:endParaRPr lang="en-US" sz="1700" dirty="0"/>
          </a:p>
        </p:txBody>
      </p:sp>
      <p:sp>
        <p:nvSpPr>
          <p:cNvPr id="39" name="Popisek pozadí"/>
          <p:cNvSpPr txBox="1"/>
          <p:nvPr/>
        </p:nvSpPr>
        <p:spPr>
          <a:xfrm>
            <a:off x="548640" y="6355080"/>
            <a:ext cx="2311603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lyžování v Beskydech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NEJZNÁMĚJŠÍ KULTURNÍ A SPORTOVNÍ AKCE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Významné akce ve Zlínském kraji</a:t>
            </a:r>
            <a:endParaRPr lang="en-US" sz="3600" dirty="0"/>
          </a:p>
        </p:txBody>
      </p:sp>
      <p:sp>
        <p:nvSpPr>
          <p:cNvPr id="4" name="Karta – Zlín Film Festival"/>
          <p:cNvSpPr/>
          <p:nvPr/>
        </p:nvSpPr>
        <p:spPr>
          <a:xfrm>
            <a:off x="548640" y="1508760"/>
            <a:ext cx="5408676" cy="2240280"/>
          </a:xfrm>
          <a:prstGeom prst="roundRect">
            <a:avLst>
              <a:gd name="adj" fmla="val 5714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Zlín Film Festival – kruh"/>
          <p:cNvSpPr/>
          <p:nvPr/>
        </p:nvSpPr>
        <p:spPr>
          <a:xfrm>
            <a:off x="822960" y="17556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Zlín Film Festival –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92808"/>
            <a:ext cx="274320" cy="274320"/>
          </a:xfrm>
          <a:prstGeom prst="rect">
            <a:avLst/>
          </a:prstGeom>
        </p:spPr>
      </p:pic>
      <p:sp>
        <p:nvSpPr>
          <p:cNvPr id="7" name="Název – Zlín Film Festival"/>
          <p:cNvSpPr txBox="1"/>
          <p:nvPr/>
        </p:nvSpPr>
        <p:spPr>
          <a:xfrm>
            <a:off x="1554480" y="1801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Zlín Film Festival</a:t>
            </a:r>
            <a:endParaRPr lang="en-US" sz="1900" dirty="0"/>
          </a:p>
        </p:txBody>
      </p:sp>
      <p:sp>
        <p:nvSpPr>
          <p:cNvPr id="8" name="Body – Zlín Film Festival"/>
          <p:cNvSpPr txBox="1"/>
          <p:nvPr/>
        </p:nvSpPr>
        <p:spPr>
          <a:xfrm>
            <a:off x="822960" y="2487168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Nejstarší a největší filmový festival pro děti a mládež na světě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Koná se každoročně ve Zlíně.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Navštěvují ho tisíce diváků z Česka i zahraničí.</a:t>
            </a:r>
            <a:endParaRPr lang="en-US" sz="1400" dirty="0"/>
          </a:p>
        </p:txBody>
      </p:sp>
      <p:sp>
        <p:nvSpPr>
          <p:cNvPr id="9" name="Karta – Barum Czech Rally Zlín"/>
          <p:cNvSpPr/>
          <p:nvPr/>
        </p:nvSpPr>
        <p:spPr>
          <a:xfrm>
            <a:off x="6231636" y="1508760"/>
            <a:ext cx="5408676" cy="2240280"/>
          </a:xfrm>
          <a:prstGeom prst="roundRect">
            <a:avLst>
              <a:gd name="adj" fmla="val 5714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0" name="Barum Czech Rally Zlín – kruh"/>
          <p:cNvSpPr/>
          <p:nvPr/>
        </p:nvSpPr>
        <p:spPr>
          <a:xfrm>
            <a:off x="6505956" y="17556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Barum Czech Rally Zlín –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1892808"/>
            <a:ext cx="274320" cy="274320"/>
          </a:xfrm>
          <a:prstGeom prst="rect">
            <a:avLst/>
          </a:prstGeom>
        </p:spPr>
      </p:pic>
      <p:sp>
        <p:nvSpPr>
          <p:cNvPr id="12" name="Název – Barum Czech Rally Zlín"/>
          <p:cNvSpPr txBox="1"/>
          <p:nvPr/>
        </p:nvSpPr>
        <p:spPr>
          <a:xfrm>
            <a:off x="7237476" y="1801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Barum Czech Rally Zlín</a:t>
            </a:r>
            <a:endParaRPr lang="en-US" sz="1900" dirty="0"/>
          </a:p>
        </p:txBody>
      </p:sp>
      <p:sp>
        <p:nvSpPr>
          <p:cNvPr id="13" name="Body – Barum Czech Rally Zlín"/>
          <p:cNvSpPr txBox="1"/>
          <p:nvPr/>
        </p:nvSpPr>
        <p:spPr>
          <a:xfrm>
            <a:off x="6505956" y="2487168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Jeden z nejvýznamnějších automobilových závodů v ČR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Součást mistrovství Evropy v rally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Každoročně přivádí do Zlína špičkové evropské jezdce.</a:t>
            </a:r>
            <a:endParaRPr lang="en-US" sz="1400" dirty="0"/>
          </a:p>
        </p:txBody>
      </p:sp>
      <p:sp>
        <p:nvSpPr>
          <p:cNvPr id="14" name="Karta – Slovácké slavnosti vína a otevřených památek"/>
          <p:cNvSpPr/>
          <p:nvPr/>
        </p:nvSpPr>
        <p:spPr>
          <a:xfrm>
            <a:off x="548640" y="3977640"/>
            <a:ext cx="3511296" cy="2148840"/>
          </a:xfrm>
          <a:prstGeom prst="roundRect">
            <a:avLst>
              <a:gd name="adj" fmla="val 5957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5" name="Slovácké slavnosti vína a otevřených památek – kruh"/>
          <p:cNvSpPr/>
          <p:nvPr/>
        </p:nvSpPr>
        <p:spPr>
          <a:xfrm>
            <a:off x="822960" y="42245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Slovácké slavnosti vína a otevřených památek –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90" y="4350258"/>
            <a:ext cx="251460" cy="251460"/>
          </a:xfrm>
          <a:prstGeom prst="rect">
            <a:avLst/>
          </a:prstGeom>
        </p:spPr>
      </p:pic>
      <p:sp>
        <p:nvSpPr>
          <p:cNvPr id="17" name="Text – Slovácké slavnosti vína a otevřených památek"/>
          <p:cNvSpPr txBox="1"/>
          <p:nvPr/>
        </p:nvSpPr>
        <p:spPr>
          <a:xfrm>
            <a:off x="822960" y="48463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Slovácké slavnosti vína a otevřených památek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Uherské Hradiště: folklor, kroje, hudba a vinařské tradice</a:t>
            </a:r>
            <a:endParaRPr lang="en-US" sz="1500" dirty="0"/>
          </a:p>
        </p:txBody>
      </p:sp>
      <p:sp>
        <p:nvSpPr>
          <p:cNvPr id="18" name="Karta – Jízda králů ve Vlčnově"/>
          <p:cNvSpPr/>
          <p:nvPr/>
        </p:nvSpPr>
        <p:spPr>
          <a:xfrm>
            <a:off x="4338828" y="3977640"/>
            <a:ext cx="3511296" cy="2148840"/>
          </a:xfrm>
          <a:prstGeom prst="roundRect">
            <a:avLst>
              <a:gd name="adj" fmla="val 5957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9" name="Jízda králů ve Vlčnově – kruh"/>
          <p:cNvSpPr/>
          <p:nvPr/>
        </p:nvSpPr>
        <p:spPr>
          <a:xfrm>
            <a:off x="4613148" y="42245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Jízda králů ve Vlčnově – 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8878" y="4350258"/>
            <a:ext cx="251460" cy="251460"/>
          </a:xfrm>
          <a:prstGeom prst="rect">
            <a:avLst/>
          </a:prstGeom>
        </p:spPr>
      </p:pic>
      <p:sp>
        <p:nvSpPr>
          <p:cNvPr id="21" name="Text – Jízda králů ve Vlčnově"/>
          <p:cNvSpPr txBox="1"/>
          <p:nvPr/>
        </p:nvSpPr>
        <p:spPr>
          <a:xfrm>
            <a:off x="4613148" y="48463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Jízda králů ve Vlčnově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Slovácký lidový obyčej zapsaný na seznamu UNESCO</a:t>
            </a:r>
            <a:endParaRPr lang="en-US" sz="1500" dirty="0"/>
          </a:p>
        </p:txBody>
      </p:sp>
      <p:sp>
        <p:nvSpPr>
          <p:cNvPr id="22" name="Karta – Národní pouť na Velehradě"/>
          <p:cNvSpPr/>
          <p:nvPr/>
        </p:nvSpPr>
        <p:spPr>
          <a:xfrm>
            <a:off x="8129016" y="3977640"/>
            <a:ext cx="3511296" cy="2148840"/>
          </a:xfrm>
          <a:prstGeom prst="roundRect">
            <a:avLst>
              <a:gd name="adj" fmla="val 5957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3" name="Národní pouť na Velehradě – kruh"/>
          <p:cNvSpPr/>
          <p:nvPr/>
        </p:nvSpPr>
        <p:spPr>
          <a:xfrm>
            <a:off x="8403336" y="42245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Národní pouť na Velehradě – ikon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9066" y="4350258"/>
            <a:ext cx="251460" cy="251460"/>
          </a:xfrm>
          <a:prstGeom prst="rect">
            <a:avLst/>
          </a:prstGeom>
        </p:spPr>
      </p:pic>
      <p:sp>
        <p:nvSpPr>
          <p:cNvPr id="25" name="Text – Národní pouť na Velehradě"/>
          <p:cNvSpPr txBox="1"/>
          <p:nvPr/>
        </p:nvSpPr>
        <p:spPr>
          <a:xfrm>
            <a:off x="8403336" y="48463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Národní pouť na Velehradě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Dny lidí dobré vůle, každý rok 5. července</a:t>
            </a:r>
            <a:endParaRPr lang="en-US" sz="1500" dirty="0"/>
          </a:p>
        </p:txBody>
      </p:sp>
      <p:sp>
        <p:nvSpPr>
          <p:cNvPr id="26" name="Popisek pozadí"/>
          <p:cNvSpPr txBox="1"/>
          <p:nvPr/>
        </p:nvSpPr>
        <p:spPr>
          <a:xfrm>
            <a:off x="548640" y="6355080"/>
            <a:ext cx="2435962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Barum Czech Rally Zlín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SHRNUTÍ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Závěr</a:t>
            </a:r>
            <a:endParaRPr lang="en-US" sz="3600" dirty="0"/>
          </a:p>
        </p:txBody>
      </p:sp>
      <p:sp>
        <p:nvSpPr>
          <p:cNvPr id="4" name="Karta – shrnutí"/>
          <p:cNvSpPr/>
          <p:nvPr/>
        </p:nvSpPr>
        <p:spPr>
          <a:xfrm>
            <a:off x="548640" y="1508760"/>
            <a:ext cx="6400800" cy="4617720"/>
          </a:xfrm>
          <a:prstGeom prst="roundRect">
            <a:avLst>
              <a:gd name="adj" fmla="val 277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Zlínský kraj leží na východě ČR. – kruh"/>
          <p:cNvSpPr/>
          <p:nvPr/>
        </p:nvSpPr>
        <p:spPr>
          <a:xfrm>
            <a:off x="868680" y="1783080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Zlínský kraj leží na východě ČR. –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" y="1915668"/>
            <a:ext cx="265176" cy="265176"/>
          </a:xfrm>
          <a:prstGeom prst="rect">
            <a:avLst/>
          </a:prstGeom>
        </p:spPr>
      </p:pic>
      <p:sp>
        <p:nvSpPr>
          <p:cNvPr id="7" name="Text – Zlínský kraj leží na východě ČR."/>
          <p:cNvSpPr txBox="1"/>
          <p:nvPr/>
        </p:nvSpPr>
        <p:spPr>
          <a:xfrm>
            <a:off x="1627632" y="1691640"/>
            <a:ext cx="50474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Zlínský kraj leží na východě ČR.</a:t>
            </a:r>
            <a:endParaRPr lang="en-US" sz="1500" dirty="0"/>
          </a:p>
        </p:txBody>
      </p:sp>
      <p:sp>
        <p:nvSpPr>
          <p:cNvPr id="8" name="Má bohatou historii spojenou s Velkou Moravou a firmou Baťa. – kruh"/>
          <p:cNvSpPr/>
          <p:nvPr/>
        </p:nvSpPr>
        <p:spPr>
          <a:xfrm>
            <a:off x="868680" y="2660904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Má bohatou historii spojenou s Velkou Moravou a firmou Baťa. – 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" y="2793492"/>
            <a:ext cx="265176" cy="265176"/>
          </a:xfrm>
          <a:prstGeom prst="rect">
            <a:avLst/>
          </a:prstGeom>
        </p:spPr>
      </p:pic>
      <p:sp>
        <p:nvSpPr>
          <p:cNvPr id="10" name="Text – Má bohatou historii spojenou s Velkou Moravou a firmou Baťa."/>
          <p:cNvSpPr txBox="1"/>
          <p:nvPr/>
        </p:nvSpPr>
        <p:spPr>
          <a:xfrm>
            <a:off x="1627632" y="2569464"/>
            <a:ext cx="50474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Má bohatou historii spojenou s Velkou Moravou a firmou Baťa.</a:t>
            </a:r>
            <a:endParaRPr lang="en-US" sz="1500" dirty="0"/>
          </a:p>
        </p:txBody>
      </p:sp>
      <p:sp>
        <p:nvSpPr>
          <p:cNvPr id="11" name="Nabízí krásnou přírodu Beskyd, Javorníků a Bílých Karpat. – kruh"/>
          <p:cNvSpPr/>
          <p:nvPr/>
        </p:nvSpPr>
        <p:spPr>
          <a:xfrm>
            <a:off x="868680" y="3538728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Nabízí krásnou přírodu Beskyd, Javorníků a Bílých Karpat. –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268" y="3671316"/>
            <a:ext cx="265176" cy="265176"/>
          </a:xfrm>
          <a:prstGeom prst="rect">
            <a:avLst/>
          </a:prstGeom>
        </p:spPr>
      </p:pic>
      <p:sp>
        <p:nvSpPr>
          <p:cNvPr id="13" name="Text – Nabízí krásnou přírodu Beskyd, Javorníků a Bílých Karpat."/>
          <p:cNvSpPr txBox="1"/>
          <p:nvPr/>
        </p:nvSpPr>
        <p:spPr>
          <a:xfrm>
            <a:off x="1627632" y="3447288"/>
            <a:ext cx="50474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Nabízí krásnou přírodu Beskyd, Javorníků a Bílých Karpat.</a:t>
            </a:r>
            <a:endParaRPr lang="en-US" sz="1500" dirty="0"/>
          </a:p>
        </p:txBody>
      </p:sp>
      <p:sp>
        <p:nvSpPr>
          <p:cNvPr id="14" name="Je významný svou kulturou, folklorem a tradicemi. – kruh"/>
          <p:cNvSpPr/>
          <p:nvPr/>
        </p:nvSpPr>
        <p:spPr>
          <a:xfrm>
            <a:off x="868680" y="441655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Je významný svou kulturou, folklorem a tradicemi. – 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268" y="4549140"/>
            <a:ext cx="265176" cy="265176"/>
          </a:xfrm>
          <a:prstGeom prst="rect">
            <a:avLst/>
          </a:prstGeom>
        </p:spPr>
      </p:pic>
      <p:sp>
        <p:nvSpPr>
          <p:cNvPr id="16" name="Text – Je významný svou kulturou, folklorem a tradicemi."/>
          <p:cNvSpPr txBox="1"/>
          <p:nvPr/>
        </p:nvSpPr>
        <p:spPr>
          <a:xfrm>
            <a:off x="1627632" y="4325112"/>
            <a:ext cx="50474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Je významný svou kulturou, folklorem a tradicemi.</a:t>
            </a:r>
            <a:endParaRPr lang="en-US" sz="1500" dirty="0"/>
          </a:p>
        </p:txBody>
      </p:sp>
      <p:sp>
        <p:nvSpPr>
          <p:cNvPr id="17" name="Patří mezi atraktivní turistické oblasti České republiky. – kruh"/>
          <p:cNvSpPr/>
          <p:nvPr/>
        </p:nvSpPr>
        <p:spPr>
          <a:xfrm>
            <a:off x="868680" y="5294376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Patří mezi atraktivní turistické oblasti České republiky. – ikon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268" y="5426964"/>
            <a:ext cx="265176" cy="265176"/>
          </a:xfrm>
          <a:prstGeom prst="rect">
            <a:avLst/>
          </a:prstGeom>
        </p:spPr>
      </p:pic>
      <p:sp>
        <p:nvSpPr>
          <p:cNvPr id="19" name="Text – Patří mezi atraktivní turistické oblasti České republiky."/>
          <p:cNvSpPr txBox="1"/>
          <p:nvPr/>
        </p:nvSpPr>
        <p:spPr>
          <a:xfrm>
            <a:off x="1627632" y="5202936"/>
            <a:ext cx="50474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Patří mezi atraktivní turistické oblasti České republiky.</a:t>
            </a:r>
            <a:endParaRPr lang="en-US" sz="1500" dirty="0"/>
          </a:p>
        </p:txBody>
      </p:sp>
      <p:sp>
        <p:nvSpPr>
          <p:cNvPr id="20" name="Popisek pozadí"/>
          <p:cNvSpPr txBox="1"/>
          <p:nvPr/>
        </p:nvSpPr>
        <p:spPr>
          <a:xfrm>
            <a:off x="548640" y="6355080"/>
            <a:ext cx="3990442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Valašské muzeum v přírodě, Rožnov pod Radhoštěm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ODKUD JSME ČERPALI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Zdroje</a:t>
            </a:r>
            <a:endParaRPr lang="en-US" sz="3600" dirty="0"/>
          </a:p>
        </p:txBody>
      </p:sp>
      <p:sp>
        <p:nvSpPr>
          <p:cNvPr id="4" name="Karta – zdroje"/>
          <p:cNvSpPr/>
          <p:nvPr/>
        </p:nvSpPr>
        <p:spPr>
          <a:xfrm>
            <a:off x="548640" y="1508760"/>
            <a:ext cx="6949440" cy="4617720"/>
          </a:xfrm>
          <a:prstGeom prst="roundRect">
            <a:avLst>
              <a:gd name="adj" fmla="val 277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Oficiální stránky Zlínského kraje – kruh"/>
          <p:cNvSpPr/>
          <p:nvPr/>
        </p:nvSpPr>
        <p:spPr>
          <a:xfrm>
            <a:off x="868680" y="1819656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Oficiální stránky Zlínského kraje – 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1920240"/>
            <a:ext cx="201168" cy="201168"/>
          </a:xfrm>
          <a:prstGeom prst="rect">
            <a:avLst/>
          </a:prstGeom>
        </p:spPr>
      </p:pic>
      <p:sp>
        <p:nvSpPr>
          <p:cNvPr id="7" name="Zdroj – Oficiální stránky Zlínského kraje"/>
          <p:cNvSpPr txBox="1"/>
          <p:nvPr/>
        </p:nvSpPr>
        <p:spPr>
          <a:xfrm>
            <a:off x="1463040" y="1783080"/>
            <a:ext cx="5806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Oficiální stránky Zlínského kraje: </a:t>
            </a:r>
            <a:pPr indent="0" marL="0">
              <a:buNone/>
            </a:pPr>
            <a:r>
              <a:rPr lang="en-US" sz="1600" u="sng" dirty="0">
                <a:solidFill>
                  <a:schemeClr val="accent3"/>
                </a:solidFill>
                <a:hlinkClick r:id="rId3" invalidUrl="" action="" tgtFrame="" tooltip="https://zlinskykraj.cz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zlinskykraj.cz</a:t>
            </a:r>
            <a:endParaRPr lang="en-US" sz="1600" dirty="0"/>
          </a:p>
        </p:txBody>
      </p:sp>
      <p:sp>
        <p:nvSpPr>
          <p:cNvPr id="8" name="Český statistický úřad (ČSÚ) – kruh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9" name="Český statistický úřad (ČSÚ) – 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2542032"/>
            <a:ext cx="201168" cy="201168"/>
          </a:xfrm>
          <a:prstGeom prst="rect">
            <a:avLst/>
          </a:prstGeom>
        </p:spPr>
      </p:pic>
      <p:sp>
        <p:nvSpPr>
          <p:cNvPr id="10" name="Zdroj – Český statistický úřad (ČSÚ)"/>
          <p:cNvSpPr txBox="1"/>
          <p:nvPr/>
        </p:nvSpPr>
        <p:spPr>
          <a:xfrm>
            <a:off x="1463040" y="2404872"/>
            <a:ext cx="5806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Český statistický úřad (ČSÚ): </a:t>
            </a:r>
            <a:pPr indent="0" marL="0">
              <a:buNone/>
            </a:pPr>
            <a:r>
              <a:rPr lang="en-US" sz="1600" u="sng" dirty="0">
                <a:solidFill>
                  <a:schemeClr val="accent3"/>
                </a:solidFill>
                <a:hlinkClick r:id="rId5" invalidUrl="" action="" tgtFrame="" tooltip="https://csu.gov.cz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csu.gov.cz</a:t>
            </a:r>
            <a:endParaRPr lang="en-US" sz="1600" dirty="0"/>
          </a:p>
        </p:txBody>
      </p:sp>
      <p:sp>
        <p:nvSpPr>
          <p:cNvPr id="11" name="Baťův kanál – kruh"/>
          <p:cNvSpPr/>
          <p:nvPr/>
        </p:nvSpPr>
        <p:spPr>
          <a:xfrm>
            <a:off x="868680" y="306324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Baťův kanál – ikon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264" y="3163824"/>
            <a:ext cx="201168" cy="201168"/>
          </a:xfrm>
          <a:prstGeom prst="rect">
            <a:avLst/>
          </a:prstGeom>
        </p:spPr>
      </p:pic>
      <p:sp>
        <p:nvSpPr>
          <p:cNvPr id="13" name="Zdroj – Baťův kanál"/>
          <p:cNvSpPr txBox="1"/>
          <p:nvPr/>
        </p:nvSpPr>
        <p:spPr>
          <a:xfrm>
            <a:off x="1463040" y="3026664"/>
            <a:ext cx="5806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Baťův kanál: </a:t>
            </a:r>
            <a:pPr indent="0" marL="0">
              <a:buNone/>
            </a:pPr>
            <a:r>
              <a:rPr lang="en-US" sz="1600" u="sng" dirty="0">
                <a:solidFill>
                  <a:schemeClr val="accent3"/>
                </a:solidFill>
                <a:hlinkClick r:id="rId7" invalidUrl="" action="" tgtFrame="" tooltip="https://www.batacanal.cz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www.batacanal.cz</a:t>
            </a:r>
            <a:endParaRPr lang="en-US" sz="1600" dirty="0"/>
          </a:p>
        </p:txBody>
      </p:sp>
      <p:sp>
        <p:nvSpPr>
          <p:cNvPr id="14" name="Kudy z nudy – kruh"/>
          <p:cNvSpPr/>
          <p:nvPr/>
        </p:nvSpPr>
        <p:spPr>
          <a:xfrm>
            <a:off x="868680" y="3685032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Kudy z nudy – ikon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" y="3785616"/>
            <a:ext cx="201168" cy="201168"/>
          </a:xfrm>
          <a:prstGeom prst="rect">
            <a:avLst/>
          </a:prstGeom>
        </p:spPr>
      </p:pic>
      <p:sp>
        <p:nvSpPr>
          <p:cNvPr id="16" name="Zdroj – Kudy z nudy"/>
          <p:cNvSpPr txBox="1"/>
          <p:nvPr/>
        </p:nvSpPr>
        <p:spPr>
          <a:xfrm>
            <a:off x="1463040" y="3648456"/>
            <a:ext cx="5806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Kudy z nudy: </a:t>
            </a:r>
            <a:pPr indent="0" marL="0">
              <a:buNone/>
            </a:pPr>
            <a:r>
              <a:rPr lang="en-US" sz="1600" u="sng" dirty="0">
                <a:solidFill>
                  <a:schemeClr val="accent3"/>
                </a:solidFill>
                <a:hlinkClick r:id="rId9" invalidUrl="" action="" tgtFrame="" tooltip="https://www.kudyznudy.cz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www.kudyznudy.cz</a:t>
            </a:r>
            <a:endParaRPr lang="en-US" sz="1600" dirty="0"/>
          </a:p>
        </p:txBody>
      </p:sp>
      <p:sp>
        <p:nvSpPr>
          <p:cNvPr id="17" name="Zoo Zlín-Lešná – kruh"/>
          <p:cNvSpPr/>
          <p:nvPr/>
        </p:nvSpPr>
        <p:spPr>
          <a:xfrm>
            <a:off x="868680" y="4306824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8" name="Zoo Zlín-Lešná – ikona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264" y="4407408"/>
            <a:ext cx="201168" cy="201168"/>
          </a:xfrm>
          <a:prstGeom prst="rect">
            <a:avLst/>
          </a:prstGeom>
        </p:spPr>
      </p:pic>
      <p:sp>
        <p:nvSpPr>
          <p:cNvPr id="19" name="Zdroj – Zoo Zlín-Lešná"/>
          <p:cNvSpPr txBox="1"/>
          <p:nvPr/>
        </p:nvSpPr>
        <p:spPr>
          <a:xfrm>
            <a:off x="1463040" y="4270248"/>
            <a:ext cx="5806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Zoo Zlín-Lešná: </a:t>
            </a:r>
            <a:pPr indent="0" marL="0">
              <a:buNone/>
            </a:pPr>
            <a:r>
              <a:rPr lang="en-US" sz="1600" u="sng" dirty="0">
                <a:solidFill>
                  <a:schemeClr val="accent3"/>
                </a:solidFill>
                <a:hlinkClick r:id="rId11" invalidUrl="" action="" tgtFrame="" tooltip="https://www.zoozlin.e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www.zoozlin.eu</a:t>
            </a:r>
            <a:endParaRPr lang="en-US" sz="1600" dirty="0"/>
          </a:p>
        </p:txBody>
      </p:sp>
      <p:sp>
        <p:nvSpPr>
          <p:cNvPr id="20" name="UNESCO ČR – kruh"/>
          <p:cNvSpPr/>
          <p:nvPr/>
        </p:nvSpPr>
        <p:spPr>
          <a:xfrm>
            <a:off x="868680" y="4928616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UNESCO ČR – ikona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9264" y="5029200"/>
            <a:ext cx="201168" cy="201168"/>
          </a:xfrm>
          <a:prstGeom prst="rect">
            <a:avLst/>
          </a:prstGeom>
        </p:spPr>
      </p:pic>
      <p:sp>
        <p:nvSpPr>
          <p:cNvPr id="22" name="Zdroj – UNESCO ČR"/>
          <p:cNvSpPr txBox="1"/>
          <p:nvPr/>
        </p:nvSpPr>
        <p:spPr>
          <a:xfrm>
            <a:off x="1463040" y="4892040"/>
            <a:ext cx="5806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UNESCO ČR: </a:t>
            </a:r>
            <a:pPr indent="0" marL="0">
              <a:buNone/>
            </a:pPr>
            <a:r>
              <a:rPr lang="en-US" sz="1600" u="sng" dirty="0">
                <a:solidFill>
                  <a:schemeClr val="accent3"/>
                </a:solidFill>
                <a:hlinkClick r:id="rId13" invalidUrl="" action="" tgtFrame="" tooltip="https://www.unesco-czech.cz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www.unesco-czech.cz</a:t>
            </a:r>
            <a:endParaRPr lang="en-US" sz="1600" dirty="0"/>
          </a:p>
        </p:txBody>
      </p:sp>
      <p:sp>
        <p:nvSpPr>
          <p:cNvPr id="23" name="Poznámka k ilustracím"/>
          <p:cNvSpPr txBox="1"/>
          <p:nvPr/>
        </p:nvSpPr>
        <p:spPr>
          <a:xfrm>
            <a:off x="868680" y="5577840"/>
            <a:ext cx="635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Ilustrace na pozadí: vlastní kresby inspirované místy Zlínského kraje.</a:t>
            </a:r>
            <a:endParaRPr lang="en-US" sz="1300" dirty="0"/>
          </a:p>
        </p:txBody>
      </p:sp>
      <p:sp>
        <p:nvSpPr>
          <p:cNvPr id="24" name="Popisek pozadí"/>
          <p:cNvSpPr txBox="1"/>
          <p:nvPr/>
        </p:nvSpPr>
        <p:spPr>
          <a:xfrm>
            <a:off x="548640" y="6355080"/>
            <a:ext cx="2809037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Arcibiskupský zámek Kroměříž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arta – kvíz"/>
          <p:cNvSpPr/>
          <p:nvPr/>
        </p:nvSpPr>
        <p:spPr>
          <a:xfrm>
            <a:off x="4937760" y="1508760"/>
            <a:ext cx="6702552" cy="3246120"/>
          </a:xfrm>
          <a:prstGeom prst="roundRect">
            <a:avLst>
              <a:gd name="adj" fmla="val 3944"/>
            </a:avLst>
          </a:prstGeom>
          <a:solidFill>
            <a:schemeClr val="bg1">
              <a:alpha val="90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349240" y="18745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ČÁST 3</a:t>
            </a:r>
            <a:endParaRPr lang="en-US" sz="15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349240" y="228600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Kvíz</a:t>
            </a:r>
            <a:endParaRPr lang="en-US" sz="4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349240" y="38862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10 otázek – u každé je správně jen jedna odpověď: A, B, nebo C</a:t>
            </a:r>
            <a:endParaRPr lang="en-US" sz="1800" dirty="0"/>
          </a:p>
        </p:txBody>
      </p:sp>
      <p:sp>
        <p:nvSpPr>
          <p:cNvPr id="6" name="Popisek pozadí"/>
          <p:cNvSpPr txBox="1"/>
          <p:nvPr/>
        </p:nvSpPr>
        <p:spPr>
          <a:xfrm>
            <a:off x="548640" y="6355080"/>
            <a:ext cx="2560320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slovácký lidový ornament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OTÁZKA 1 / 10</a:t>
            </a:r>
            <a:endParaRPr lang="en-US" sz="15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22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Jaké je krajské město Zlínského kraje?</a:t>
            </a:r>
            <a:endParaRPr lang="en-US" sz="3000" dirty="0"/>
          </a:p>
        </p:txBody>
      </p:sp>
      <p:sp>
        <p:nvSpPr>
          <p:cNvPr id="4" name="Odpověď A"/>
          <p:cNvSpPr/>
          <p:nvPr/>
        </p:nvSpPr>
        <p:spPr>
          <a:xfrm>
            <a:off x="548640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Písmeno A – kruh"/>
          <p:cNvSpPr/>
          <p:nvPr/>
        </p:nvSpPr>
        <p:spPr>
          <a:xfrm>
            <a:off x="822960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Písmeno A"/>
          <p:cNvSpPr txBox="1"/>
          <p:nvPr/>
        </p:nvSpPr>
        <p:spPr>
          <a:xfrm>
            <a:off x="8229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odpovědi A"/>
          <p:cNvSpPr txBox="1"/>
          <p:nvPr/>
        </p:nvSpPr>
        <p:spPr>
          <a:xfrm>
            <a:off x="1737360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Kroměříž</a:t>
            </a:r>
            <a:endParaRPr lang="en-US" sz="2400" dirty="0"/>
          </a:p>
        </p:txBody>
      </p:sp>
      <p:sp>
        <p:nvSpPr>
          <p:cNvPr id="8" name="Odpověď B"/>
          <p:cNvSpPr/>
          <p:nvPr/>
        </p:nvSpPr>
        <p:spPr>
          <a:xfrm>
            <a:off x="4338828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9" name="Písmeno B – kruh"/>
          <p:cNvSpPr/>
          <p:nvPr/>
        </p:nvSpPr>
        <p:spPr>
          <a:xfrm>
            <a:off x="4613148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ísmeno B"/>
          <p:cNvSpPr txBox="1"/>
          <p:nvPr/>
        </p:nvSpPr>
        <p:spPr>
          <a:xfrm>
            <a:off x="4613148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3000" dirty="0"/>
          </a:p>
        </p:txBody>
      </p:sp>
      <p:sp>
        <p:nvSpPr>
          <p:cNvPr id="11" name="Text odpovědi B"/>
          <p:cNvSpPr txBox="1"/>
          <p:nvPr/>
        </p:nvSpPr>
        <p:spPr>
          <a:xfrm>
            <a:off x="5527548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Zlín</a:t>
            </a:r>
            <a:endParaRPr lang="en-US" sz="2400" dirty="0"/>
          </a:p>
        </p:txBody>
      </p:sp>
      <p:sp>
        <p:nvSpPr>
          <p:cNvPr id="12" name="Odpověď C"/>
          <p:cNvSpPr/>
          <p:nvPr/>
        </p:nvSpPr>
        <p:spPr>
          <a:xfrm>
            <a:off x="8129016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Písmeno C – kruh"/>
          <p:cNvSpPr/>
          <p:nvPr/>
        </p:nvSpPr>
        <p:spPr>
          <a:xfrm>
            <a:off x="8403336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Písmeno C"/>
          <p:cNvSpPr txBox="1"/>
          <p:nvPr/>
        </p:nvSpPr>
        <p:spPr>
          <a:xfrm>
            <a:off x="8403336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3000" dirty="0"/>
          </a:p>
        </p:txBody>
      </p:sp>
      <p:sp>
        <p:nvSpPr>
          <p:cNvPr id="15" name="Text odpovědi C"/>
          <p:cNvSpPr txBox="1"/>
          <p:nvPr/>
        </p:nvSpPr>
        <p:spPr>
          <a:xfrm>
            <a:off x="9317736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Vsetín</a:t>
            </a:r>
            <a:endParaRPr lang="en-US" sz="2400" dirty="0"/>
          </a:p>
        </p:txBody>
      </p:sp>
      <p:sp>
        <p:nvSpPr>
          <p:cNvPr id="17" name="Popisek pozadí"/>
          <p:cNvSpPr txBox="1"/>
          <p:nvPr/>
        </p:nvSpPr>
        <p:spPr>
          <a:xfrm>
            <a:off x="548640" y="6355080"/>
            <a:ext cx="1316736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Zlín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OTÁZKA 2 / 10</a:t>
            </a:r>
            <a:endParaRPr lang="en-US" sz="15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22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Jaké je nejvyšší pohoří kraje?</a:t>
            </a:r>
            <a:endParaRPr lang="en-US" sz="3000" dirty="0"/>
          </a:p>
        </p:txBody>
      </p:sp>
      <p:sp>
        <p:nvSpPr>
          <p:cNvPr id="4" name="Odpověď A"/>
          <p:cNvSpPr/>
          <p:nvPr/>
        </p:nvSpPr>
        <p:spPr>
          <a:xfrm>
            <a:off x="548640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Písmeno A – kruh"/>
          <p:cNvSpPr/>
          <p:nvPr/>
        </p:nvSpPr>
        <p:spPr>
          <a:xfrm>
            <a:off x="822960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Písmeno A"/>
          <p:cNvSpPr txBox="1"/>
          <p:nvPr/>
        </p:nvSpPr>
        <p:spPr>
          <a:xfrm>
            <a:off x="8229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odpovědi A"/>
          <p:cNvSpPr txBox="1"/>
          <p:nvPr/>
        </p:nvSpPr>
        <p:spPr>
          <a:xfrm>
            <a:off x="1737360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Javorníky</a:t>
            </a:r>
            <a:endParaRPr lang="en-US" sz="2400" dirty="0"/>
          </a:p>
        </p:txBody>
      </p:sp>
      <p:sp>
        <p:nvSpPr>
          <p:cNvPr id="8" name="Odpověď B"/>
          <p:cNvSpPr/>
          <p:nvPr/>
        </p:nvSpPr>
        <p:spPr>
          <a:xfrm>
            <a:off x="4338828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9" name="Písmeno B – kruh"/>
          <p:cNvSpPr/>
          <p:nvPr/>
        </p:nvSpPr>
        <p:spPr>
          <a:xfrm>
            <a:off x="4613148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ísmeno B"/>
          <p:cNvSpPr txBox="1"/>
          <p:nvPr/>
        </p:nvSpPr>
        <p:spPr>
          <a:xfrm>
            <a:off x="4613148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3000" dirty="0"/>
          </a:p>
        </p:txBody>
      </p:sp>
      <p:sp>
        <p:nvSpPr>
          <p:cNvPr id="11" name="Text odpovědi B"/>
          <p:cNvSpPr txBox="1"/>
          <p:nvPr/>
        </p:nvSpPr>
        <p:spPr>
          <a:xfrm>
            <a:off x="5527548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Bílé Karpaty</a:t>
            </a:r>
            <a:endParaRPr lang="en-US" sz="2400" dirty="0"/>
          </a:p>
        </p:txBody>
      </p:sp>
      <p:sp>
        <p:nvSpPr>
          <p:cNvPr id="12" name="Odpověď C"/>
          <p:cNvSpPr/>
          <p:nvPr/>
        </p:nvSpPr>
        <p:spPr>
          <a:xfrm>
            <a:off x="8129016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Písmeno C – kruh"/>
          <p:cNvSpPr/>
          <p:nvPr/>
        </p:nvSpPr>
        <p:spPr>
          <a:xfrm>
            <a:off x="8403336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Písmeno C"/>
          <p:cNvSpPr txBox="1"/>
          <p:nvPr/>
        </p:nvSpPr>
        <p:spPr>
          <a:xfrm>
            <a:off x="8403336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3000" dirty="0"/>
          </a:p>
        </p:txBody>
      </p:sp>
      <p:sp>
        <p:nvSpPr>
          <p:cNvPr id="15" name="Text odpovědi C"/>
          <p:cNvSpPr txBox="1"/>
          <p:nvPr/>
        </p:nvSpPr>
        <p:spPr>
          <a:xfrm>
            <a:off x="9317736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Beskydy</a:t>
            </a:r>
            <a:endParaRPr lang="en-US" sz="2400" dirty="0"/>
          </a:p>
        </p:txBody>
      </p:sp>
      <p:sp>
        <p:nvSpPr>
          <p:cNvPr id="17" name="Popisek pozadí"/>
          <p:cNvSpPr txBox="1"/>
          <p:nvPr/>
        </p:nvSpPr>
        <p:spPr>
          <a:xfrm>
            <a:off x="548640" y="6355080"/>
            <a:ext cx="1503274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Beskydy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OTÁZKA 3 / 10</a:t>
            </a:r>
            <a:endParaRPr lang="en-US" sz="15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22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Která firma proslavila Zlín?</a:t>
            </a:r>
            <a:endParaRPr lang="en-US" sz="3000" dirty="0"/>
          </a:p>
        </p:txBody>
      </p:sp>
      <p:sp>
        <p:nvSpPr>
          <p:cNvPr id="4" name="Odpověď A"/>
          <p:cNvSpPr/>
          <p:nvPr/>
        </p:nvSpPr>
        <p:spPr>
          <a:xfrm>
            <a:off x="548640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Písmeno A – kruh"/>
          <p:cNvSpPr/>
          <p:nvPr/>
        </p:nvSpPr>
        <p:spPr>
          <a:xfrm>
            <a:off x="822960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Písmeno A"/>
          <p:cNvSpPr txBox="1"/>
          <p:nvPr/>
        </p:nvSpPr>
        <p:spPr>
          <a:xfrm>
            <a:off x="8229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odpovědi A"/>
          <p:cNvSpPr txBox="1"/>
          <p:nvPr/>
        </p:nvSpPr>
        <p:spPr>
          <a:xfrm>
            <a:off x="1737360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Škoda</a:t>
            </a:r>
            <a:endParaRPr lang="en-US" sz="2400" dirty="0"/>
          </a:p>
        </p:txBody>
      </p:sp>
      <p:sp>
        <p:nvSpPr>
          <p:cNvPr id="8" name="Odpověď B"/>
          <p:cNvSpPr/>
          <p:nvPr/>
        </p:nvSpPr>
        <p:spPr>
          <a:xfrm>
            <a:off x="4338828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9" name="Písmeno B – kruh"/>
          <p:cNvSpPr/>
          <p:nvPr/>
        </p:nvSpPr>
        <p:spPr>
          <a:xfrm>
            <a:off x="4613148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ísmeno B"/>
          <p:cNvSpPr txBox="1"/>
          <p:nvPr/>
        </p:nvSpPr>
        <p:spPr>
          <a:xfrm>
            <a:off x="4613148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3000" dirty="0"/>
          </a:p>
        </p:txBody>
      </p:sp>
      <p:sp>
        <p:nvSpPr>
          <p:cNvPr id="11" name="Text odpovědi B"/>
          <p:cNvSpPr txBox="1"/>
          <p:nvPr/>
        </p:nvSpPr>
        <p:spPr>
          <a:xfrm>
            <a:off x="5527548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Baťa</a:t>
            </a:r>
            <a:endParaRPr lang="en-US" sz="2400" dirty="0"/>
          </a:p>
        </p:txBody>
      </p:sp>
      <p:sp>
        <p:nvSpPr>
          <p:cNvPr id="12" name="Odpověď C"/>
          <p:cNvSpPr/>
          <p:nvPr/>
        </p:nvSpPr>
        <p:spPr>
          <a:xfrm>
            <a:off x="8129016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Písmeno C – kruh"/>
          <p:cNvSpPr/>
          <p:nvPr/>
        </p:nvSpPr>
        <p:spPr>
          <a:xfrm>
            <a:off x="8403336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Písmeno C"/>
          <p:cNvSpPr txBox="1"/>
          <p:nvPr/>
        </p:nvSpPr>
        <p:spPr>
          <a:xfrm>
            <a:off x="8403336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3000" dirty="0"/>
          </a:p>
        </p:txBody>
      </p:sp>
      <p:sp>
        <p:nvSpPr>
          <p:cNvPr id="15" name="Text odpovědi C"/>
          <p:cNvSpPr txBox="1"/>
          <p:nvPr/>
        </p:nvSpPr>
        <p:spPr>
          <a:xfrm>
            <a:off x="9317736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Tatra</a:t>
            </a:r>
            <a:endParaRPr lang="en-US" sz="2400" dirty="0"/>
          </a:p>
        </p:txBody>
      </p:sp>
      <p:sp>
        <p:nvSpPr>
          <p:cNvPr id="17" name="Popisek pozadí"/>
          <p:cNvSpPr txBox="1"/>
          <p:nvPr/>
        </p:nvSpPr>
        <p:spPr>
          <a:xfrm>
            <a:off x="548640" y="6355080"/>
            <a:ext cx="2373782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Baťovy tovární budovy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OTÁZKA 4 / 10</a:t>
            </a:r>
            <a:endParaRPr lang="en-US" sz="15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22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Která řeka protéká krajem?</a:t>
            </a:r>
            <a:endParaRPr lang="en-US" sz="3000" dirty="0"/>
          </a:p>
        </p:txBody>
      </p:sp>
      <p:sp>
        <p:nvSpPr>
          <p:cNvPr id="4" name="Odpověď A"/>
          <p:cNvSpPr/>
          <p:nvPr/>
        </p:nvSpPr>
        <p:spPr>
          <a:xfrm>
            <a:off x="548640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Písmeno A – kruh"/>
          <p:cNvSpPr/>
          <p:nvPr/>
        </p:nvSpPr>
        <p:spPr>
          <a:xfrm>
            <a:off x="822960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Písmeno A"/>
          <p:cNvSpPr txBox="1"/>
          <p:nvPr/>
        </p:nvSpPr>
        <p:spPr>
          <a:xfrm>
            <a:off x="8229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odpovědi A"/>
          <p:cNvSpPr txBox="1"/>
          <p:nvPr/>
        </p:nvSpPr>
        <p:spPr>
          <a:xfrm>
            <a:off x="1737360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Morava</a:t>
            </a:r>
            <a:endParaRPr lang="en-US" sz="2400" dirty="0"/>
          </a:p>
        </p:txBody>
      </p:sp>
      <p:sp>
        <p:nvSpPr>
          <p:cNvPr id="8" name="Odpověď B"/>
          <p:cNvSpPr/>
          <p:nvPr/>
        </p:nvSpPr>
        <p:spPr>
          <a:xfrm>
            <a:off x="4338828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9" name="Písmeno B – kruh"/>
          <p:cNvSpPr/>
          <p:nvPr/>
        </p:nvSpPr>
        <p:spPr>
          <a:xfrm>
            <a:off x="4613148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ísmeno B"/>
          <p:cNvSpPr txBox="1"/>
          <p:nvPr/>
        </p:nvSpPr>
        <p:spPr>
          <a:xfrm>
            <a:off x="4613148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3000" dirty="0"/>
          </a:p>
        </p:txBody>
      </p:sp>
      <p:sp>
        <p:nvSpPr>
          <p:cNvPr id="11" name="Text odpovědi B"/>
          <p:cNvSpPr txBox="1"/>
          <p:nvPr/>
        </p:nvSpPr>
        <p:spPr>
          <a:xfrm>
            <a:off x="5527548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Labe</a:t>
            </a:r>
            <a:endParaRPr lang="en-US" sz="2400" dirty="0"/>
          </a:p>
        </p:txBody>
      </p:sp>
      <p:sp>
        <p:nvSpPr>
          <p:cNvPr id="12" name="Odpověď C"/>
          <p:cNvSpPr/>
          <p:nvPr/>
        </p:nvSpPr>
        <p:spPr>
          <a:xfrm>
            <a:off x="8129016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Písmeno C – kruh"/>
          <p:cNvSpPr/>
          <p:nvPr/>
        </p:nvSpPr>
        <p:spPr>
          <a:xfrm>
            <a:off x="8403336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Písmeno C"/>
          <p:cNvSpPr txBox="1"/>
          <p:nvPr/>
        </p:nvSpPr>
        <p:spPr>
          <a:xfrm>
            <a:off x="8403336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3000" dirty="0"/>
          </a:p>
        </p:txBody>
      </p:sp>
      <p:sp>
        <p:nvSpPr>
          <p:cNvPr id="15" name="Text odpovědi C"/>
          <p:cNvSpPr txBox="1"/>
          <p:nvPr/>
        </p:nvSpPr>
        <p:spPr>
          <a:xfrm>
            <a:off x="9317736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Vltava</a:t>
            </a:r>
            <a:endParaRPr lang="en-US" sz="2400" dirty="0"/>
          </a:p>
        </p:txBody>
      </p:sp>
      <p:sp>
        <p:nvSpPr>
          <p:cNvPr id="17" name="Popisek pozadí"/>
          <p:cNvSpPr txBox="1"/>
          <p:nvPr/>
        </p:nvSpPr>
        <p:spPr>
          <a:xfrm>
            <a:off x="548640" y="6355080"/>
            <a:ext cx="2187245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vodní nádrž a řeka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OTÁZKA 5 / 10</a:t>
            </a:r>
            <a:endParaRPr lang="en-US" sz="15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22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Která památka UNESCO se nachází v kraji?</a:t>
            </a:r>
            <a:endParaRPr lang="en-US" sz="3000" dirty="0"/>
          </a:p>
        </p:txBody>
      </p:sp>
      <p:sp>
        <p:nvSpPr>
          <p:cNvPr id="4" name="Odpověď A"/>
          <p:cNvSpPr/>
          <p:nvPr/>
        </p:nvSpPr>
        <p:spPr>
          <a:xfrm>
            <a:off x="548640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Písmeno A – kruh"/>
          <p:cNvSpPr/>
          <p:nvPr/>
        </p:nvSpPr>
        <p:spPr>
          <a:xfrm>
            <a:off x="822960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Písmeno A"/>
          <p:cNvSpPr txBox="1"/>
          <p:nvPr/>
        </p:nvSpPr>
        <p:spPr>
          <a:xfrm>
            <a:off x="8229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odpovědi A"/>
          <p:cNvSpPr txBox="1"/>
          <p:nvPr/>
        </p:nvSpPr>
        <p:spPr>
          <a:xfrm>
            <a:off x="1737360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Karlštejn</a:t>
            </a:r>
            <a:endParaRPr lang="en-US" sz="2400" dirty="0"/>
          </a:p>
        </p:txBody>
      </p:sp>
      <p:sp>
        <p:nvSpPr>
          <p:cNvPr id="8" name="Odpověď B"/>
          <p:cNvSpPr/>
          <p:nvPr/>
        </p:nvSpPr>
        <p:spPr>
          <a:xfrm>
            <a:off x="4338828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9" name="Písmeno B – kruh"/>
          <p:cNvSpPr/>
          <p:nvPr/>
        </p:nvSpPr>
        <p:spPr>
          <a:xfrm>
            <a:off x="4613148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ísmeno B"/>
          <p:cNvSpPr txBox="1"/>
          <p:nvPr/>
        </p:nvSpPr>
        <p:spPr>
          <a:xfrm>
            <a:off x="4613148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3000" dirty="0"/>
          </a:p>
        </p:txBody>
      </p:sp>
      <p:sp>
        <p:nvSpPr>
          <p:cNvPr id="11" name="Text odpovědi B"/>
          <p:cNvSpPr txBox="1"/>
          <p:nvPr/>
        </p:nvSpPr>
        <p:spPr>
          <a:xfrm>
            <a:off x="5527548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Zámek Kroměříž</a:t>
            </a:r>
            <a:endParaRPr lang="en-US" sz="2400" dirty="0"/>
          </a:p>
        </p:txBody>
      </p:sp>
      <p:sp>
        <p:nvSpPr>
          <p:cNvPr id="12" name="Odpověď C"/>
          <p:cNvSpPr/>
          <p:nvPr/>
        </p:nvSpPr>
        <p:spPr>
          <a:xfrm>
            <a:off x="8129016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Písmeno C – kruh"/>
          <p:cNvSpPr/>
          <p:nvPr/>
        </p:nvSpPr>
        <p:spPr>
          <a:xfrm>
            <a:off x="8403336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Písmeno C"/>
          <p:cNvSpPr txBox="1"/>
          <p:nvPr/>
        </p:nvSpPr>
        <p:spPr>
          <a:xfrm>
            <a:off x="8403336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3000" dirty="0"/>
          </a:p>
        </p:txBody>
      </p:sp>
      <p:sp>
        <p:nvSpPr>
          <p:cNvPr id="15" name="Text odpovědi C"/>
          <p:cNvSpPr txBox="1"/>
          <p:nvPr/>
        </p:nvSpPr>
        <p:spPr>
          <a:xfrm>
            <a:off x="9317736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Hluboká</a:t>
            </a:r>
            <a:endParaRPr lang="en-US" sz="2400" dirty="0"/>
          </a:p>
        </p:txBody>
      </p:sp>
      <p:sp>
        <p:nvSpPr>
          <p:cNvPr id="17" name="Popisek pozadí"/>
          <p:cNvSpPr txBox="1"/>
          <p:nvPr/>
        </p:nvSpPr>
        <p:spPr>
          <a:xfrm>
            <a:off x="548640" y="6355080"/>
            <a:ext cx="1938528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zámek Kroměříž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OTÁZKA 6 / 10</a:t>
            </a:r>
            <a:endParaRPr lang="en-US" sz="15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22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Jaké turistické místo je známé poutěmi?</a:t>
            </a:r>
            <a:endParaRPr lang="en-US" sz="3000" dirty="0"/>
          </a:p>
        </p:txBody>
      </p:sp>
      <p:sp>
        <p:nvSpPr>
          <p:cNvPr id="4" name="Odpověď A"/>
          <p:cNvSpPr/>
          <p:nvPr/>
        </p:nvSpPr>
        <p:spPr>
          <a:xfrm>
            <a:off x="548640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Písmeno A – kruh"/>
          <p:cNvSpPr/>
          <p:nvPr/>
        </p:nvSpPr>
        <p:spPr>
          <a:xfrm>
            <a:off x="822960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Písmeno A"/>
          <p:cNvSpPr txBox="1"/>
          <p:nvPr/>
        </p:nvSpPr>
        <p:spPr>
          <a:xfrm>
            <a:off x="8229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odpovědi A"/>
          <p:cNvSpPr txBox="1"/>
          <p:nvPr/>
        </p:nvSpPr>
        <p:spPr>
          <a:xfrm>
            <a:off x="1737360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Svatý Hostýn</a:t>
            </a:r>
            <a:endParaRPr lang="en-US" sz="2400" dirty="0"/>
          </a:p>
        </p:txBody>
      </p:sp>
      <p:sp>
        <p:nvSpPr>
          <p:cNvPr id="8" name="Odpověď B"/>
          <p:cNvSpPr/>
          <p:nvPr/>
        </p:nvSpPr>
        <p:spPr>
          <a:xfrm>
            <a:off x="4338828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9" name="Písmeno B – kruh"/>
          <p:cNvSpPr/>
          <p:nvPr/>
        </p:nvSpPr>
        <p:spPr>
          <a:xfrm>
            <a:off x="4613148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ísmeno B"/>
          <p:cNvSpPr txBox="1"/>
          <p:nvPr/>
        </p:nvSpPr>
        <p:spPr>
          <a:xfrm>
            <a:off x="4613148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3000" dirty="0"/>
          </a:p>
        </p:txBody>
      </p:sp>
      <p:sp>
        <p:nvSpPr>
          <p:cNvPr id="11" name="Text odpovědi B"/>
          <p:cNvSpPr txBox="1"/>
          <p:nvPr/>
        </p:nvSpPr>
        <p:spPr>
          <a:xfrm>
            <a:off x="5527548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Praděd</a:t>
            </a:r>
            <a:endParaRPr lang="en-US" sz="2400" dirty="0"/>
          </a:p>
        </p:txBody>
      </p:sp>
      <p:sp>
        <p:nvSpPr>
          <p:cNvPr id="12" name="Odpověď C"/>
          <p:cNvSpPr/>
          <p:nvPr/>
        </p:nvSpPr>
        <p:spPr>
          <a:xfrm>
            <a:off x="8129016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Písmeno C – kruh"/>
          <p:cNvSpPr/>
          <p:nvPr/>
        </p:nvSpPr>
        <p:spPr>
          <a:xfrm>
            <a:off x="8403336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Písmeno C"/>
          <p:cNvSpPr txBox="1"/>
          <p:nvPr/>
        </p:nvSpPr>
        <p:spPr>
          <a:xfrm>
            <a:off x="8403336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3000" dirty="0"/>
          </a:p>
        </p:txBody>
      </p:sp>
      <p:sp>
        <p:nvSpPr>
          <p:cNvPr id="15" name="Text odpovědi C"/>
          <p:cNvSpPr txBox="1"/>
          <p:nvPr/>
        </p:nvSpPr>
        <p:spPr>
          <a:xfrm>
            <a:off x="9317736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Ještěd</a:t>
            </a:r>
            <a:endParaRPr lang="en-US" sz="2400" dirty="0"/>
          </a:p>
        </p:txBody>
      </p:sp>
      <p:sp>
        <p:nvSpPr>
          <p:cNvPr id="17" name="Popisek pozadí"/>
          <p:cNvSpPr txBox="1"/>
          <p:nvPr/>
        </p:nvSpPr>
        <p:spPr>
          <a:xfrm>
            <a:off x="548640" y="6355080"/>
            <a:ext cx="1814170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Svatý Hostýn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OTÁZKA 7 / 10</a:t>
            </a:r>
            <a:endParaRPr lang="en-US" sz="15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22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Kolik okresů má Zlínský kraj?</a:t>
            </a:r>
            <a:endParaRPr lang="en-US" sz="3000" dirty="0"/>
          </a:p>
        </p:txBody>
      </p:sp>
      <p:sp>
        <p:nvSpPr>
          <p:cNvPr id="4" name="Odpověď A"/>
          <p:cNvSpPr/>
          <p:nvPr/>
        </p:nvSpPr>
        <p:spPr>
          <a:xfrm>
            <a:off x="548640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Písmeno A – kruh"/>
          <p:cNvSpPr/>
          <p:nvPr/>
        </p:nvSpPr>
        <p:spPr>
          <a:xfrm>
            <a:off x="822960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Písmeno A"/>
          <p:cNvSpPr txBox="1"/>
          <p:nvPr/>
        </p:nvSpPr>
        <p:spPr>
          <a:xfrm>
            <a:off x="8229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odpovědi A"/>
          <p:cNvSpPr txBox="1"/>
          <p:nvPr/>
        </p:nvSpPr>
        <p:spPr>
          <a:xfrm>
            <a:off x="1737360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Odpověď B"/>
          <p:cNvSpPr/>
          <p:nvPr/>
        </p:nvSpPr>
        <p:spPr>
          <a:xfrm>
            <a:off x="4338828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9" name="Písmeno B – kruh"/>
          <p:cNvSpPr/>
          <p:nvPr/>
        </p:nvSpPr>
        <p:spPr>
          <a:xfrm>
            <a:off x="4613148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ísmeno B"/>
          <p:cNvSpPr txBox="1"/>
          <p:nvPr/>
        </p:nvSpPr>
        <p:spPr>
          <a:xfrm>
            <a:off x="4613148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3000" dirty="0"/>
          </a:p>
        </p:txBody>
      </p:sp>
      <p:sp>
        <p:nvSpPr>
          <p:cNvPr id="11" name="Text odpovědi B"/>
          <p:cNvSpPr txBox="1"/>
          <p:nvPr/>
        </p:nvSpPr>
        <p:spPr>
          <a:xfrm>
            <a:off x="5527548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12" name="Odpověď C"/>
          <p:cNvSpPr/>
          <p:nvPr/>
        </p:nvSpPr>
        <p:spPr>
          <a:xfrm>
            <a:off x="8129016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Písmeno C – kruh"/>
          <p:cNvSpPr/>
          <p:nvPr/>
        </p:nvSpPr>
        <p:spPr>
          <a:xfrm>
            <a:off x="8403336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Písmeno C"/>
          <p:cNvSpPr txBox="1"/>
          <p:nvPr/>
        </p:nvSpPr>
        <p:spPr>
          <a:xfrm>
            <a:off x="8403336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3000" dirty="0"/>
          </a:p>
        </p:txBody>
      </p:sp>
      <p:sp>
        <p:nvSpPr>
          <p:cNvPr id="15" name="Text odpovědi C"/>
          <p:cNvSpPr txBox="1"/>
          <p:nvPr/>
        </p:nvSpPr>
        <p:spPr>
          <a:xfrm>
            <a:off x="9317736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7" name="Popisek pozadí"/>
          <p:cNvSpPr txBox="1"/>
          <p:nvPr/>
        </p:nvSpPr>
        <p:spPr>
          <a:xfrm>
            <a:off x="548640" y="6355080"/>
            <a:ext cx="2498141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baťovské domky ve Zlíně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OTÁZKA 8 / 10</a:t>
            </a:r>
            <a:endParaRPr lang="en-US" sz="15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22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Která turistická atrakce ve Zlínském kraji je známá jako jedna z nejkrásnějších zoologických zahrad v České republice?</a:t>
            </a:r>
            <a:endParaRPr lang="en-US" sz="3000" dirty="0"/>
          </a:p>
        </p:txBody>
      </p:sp>
      <p:sp>
        <p:nvSpPr>
          <p:cNvPr id="4" name="Odpověď A"/>
          <p:cNvSpPr/>
          <p:nvPr/>
        </p:nvSpPr>
        <p:spPr>
          <a:xfrm>
            <a:off x="548640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Písmeno A – kruh"/>
          <p:cNvSpPr/>
          <p:nvPr/>
        </p:nvSpPr>
        <p:spPr>
          <a:xfrm>
            <a:off x="822960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Písmeno A"/>
          <p:cNvSpPr txBox="1"/>
          <p:nvPr/>
        </p:nvSpPr>
        <p:spPr>
          <a:xfrm>
            <a:off x="8229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odpovědi A"/>
          <p:cNvSpPr txBox="1"/>
          <p:nvPr/>
        </p:nvSpPr>
        <p:spPr>
          <a:xfrm>
            <a:off x="1737360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Zoo Dvůr Králové</a:t>
            </a:r>
            <a:endParaRPr lang="en-US" sz="2400" dirty="0"/>
          </a:p>
        </p:txBody>
      </p:sp>
      <p:sp>
        <p:nvSpPr>
          <p:cNvPr id="8" name="Odpověď B"/>
          <p:cNvSpPr/>
          <p:nvPr/>
        </p:nvSpPr>
        <p:spPr>
          <a:xfrm>
            <a:off x="4338828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9" name="Písmeno B – kruh"/>
          <p:cNvSpPr/>
          <p:nvPr/>
        </p:nvSpPr>
        <p:spPr>
          <a:xfrm>
            <a:off x="4613148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ísmeno B"/>
          <p:cNvSpPr txBox="1"/>
          <p:nvPr/>
        </p:nvSpPr>
        <p:spPr>
          <a:xfrm>
            <a:off x="4613148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3000" dirty="0"/>
          </a:p>
        </p:txBody>
      </p:sp>
      <p:sp>
        <p:nvSpPr>
          <p:cNvPr id="11" name="Text odpovědi B"/>
          <p:cNvSpPr txBox="1"/>
          <p:nvPr/>
        </p:nvSpPr>
        <p:spPr>
          <a:xfrm>
            <a:off x="5527548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Zoo Zlín-Lešná</a:t>
            </a:r>
            <a:endParaRPr lang="en-US" sz="2400" dirty="0"/>
          </a:p>
        </p:txBody>
      </p:sp>
      <p:sp>
        <p:nvSpPr>
          <p:cNvPr id="12" name="Odpověď C"/>
          <p:cNvSpPr/>
          <p:nvPr/>
        </p:nvSpPr>
        <p:spPr>
          <a:xfrm>
            <a:off x="8129016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Písmeno C – kruh"/>
          <p:cNvSpPr/>
          <p:nvPr/>
        </p:nvSpPr>
        <p:spPr>
          <a:xfrm>
            <a:off x="8403336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Písmeno C"/>
          <p:cNvSpPr txBox="1"/>
          <p:nvPr/>
        </p:nvSpPr>
        <p:spPr>
          <a:xfrm>
            <a:off x="8403336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3000" dirty="0"/>
          </a:p>
        </p:txBody>
      </p:sp>
      <p:sp>
        <p:nvSpPr>
          <p:cNvPr id="15" name="Text odpovědi C"/>
          <p:cNvSpPr txBox="1"/>
          <p:nvPr/>
        </p:nvSpPr>
        <p:spPr>
          <a:xfrm>
            <a:off x="9317736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Zoo Praha</a:t>
            </a:r>
            <a:endParaRPr lang="en-US" sz="2400" dirty="0"/>
          </a:p>
        </p:txBody>
      </p:sp>
      <p:sp>
        <p:nvSpPr>
          <p:cNvPr id="17" name="Popisek pozadí"/>
          <p:cNvSpPr txBox="1"/>
          <p:nvPr/>
        </p:nvSpPr>
        <p:spPr>
          <a:xfrm>
            <a:off x="548640" y="6355080"/>
            <a:ext cx="1938528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Zoo Zlín-Lešná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OTÁZKA 9 / 10</a:t>
            </a:r>
            <a:endParaRPr lang="en-US" sz="15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22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Jak se jmenuje nejvyšší bod Zlínského kraje?</a:t>
            </a:r>
            <a:endParaRPr lang="en-US" sz="3000" dirty="0"/>
          </a:p>
        </p:txBody>
      </p:sp>
      <p:sp>
        <p:nvSpPr>
          <p:cNvPr id="4" name="Odpověď A"/>
          <p:cNvSpPr/>
          <p:nvPr/>
        </p:nvSpPr>
        <p:spPr>
          <a:xfrm>
            <a:off x="548640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Písmeno A – kruh"/>
          <p:cNvSpPr/>
          <p:nvPr/>
        </p:nvSpPr>
        <p:spPr>
          <a:xfrm>
            <a:off x="822960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Písmeno A"/>
          <p:cNvSpPr txBox="1"/>
          <p:nvPr/>
        </p:nvSpPr>
        <p:spPr>
          <a:xfrm>
            <a:off x="8229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odpovědi A"/>
          <p:cNvSpPr txBox="1"/>
          <p:nvPr/>
        </p:nvSpPr>
        <p:spPr>
          <a:xfrm>
            <a:off x="1737360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Čertův mlýn</a:t>
            </a:r>
            <a:endParaRPr lang="en-US" sz="2400" dirty="0"/>
          </a:p>
        </p:txBody>
      </p:sp>
      <p:sp>
        <p:nvSpPr>
          <p:cNvPr id="8" name="Odpověď B"/>
          <p:cNvSpPr/>
          <p:nvPr/>
        </p:nvSpPr>
        <p:spPr>
          <a:xfrm>
            <a:off x="4338828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9" name="Písmeno B – kruh"/>
          <p:cNvSpPr/>
          <p:nvPr/>
        </p:nvSpPr>
        <p:spPr>
          <a:xfrm>
            <a:off x="4613148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ísmeno B"/>
          <p:cNvSpPr txBox="1"/>
          <p:nvPr/>
        </p:nvSpPr>
        <p:spPr>
          <a:xfrm>
            <a:off x="4613148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3000" dirty="0"/>
          </a:p>
        </p:txBody>
      </p:sp>
      <p:sp>
        <p:nvSpPr>
          <p:cNvPr id="11" name="Text odpovědi B"/>
          <p:cNvSpPr txBox="1"/>
          <p:nvPr/>
        </p:nvSpPr>
        <p:spPr>
          <a:xfrm>
            <a:off x="5527548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Lysá hora</a:t>
            </a:r>
            <a:endParaRPr lang="en-US" sz="2400" dirty="0"/>
          </a:p>
        </p:txBody>
      </p:sp>
      <p:sp>
        <p:nvSpPr>
          <p:cNvPr id="12" name="Odpověď C"/>
          <p:cNvSpPr/>
          <p:nvPr/>
        </p:nvSpPr>
        <p:spPr>
          <a:xfrm>
            <a:off x="8129016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Písmeno C – kruh"/>
          <p:cNvSpPr/>
          <p:nvPr/>
        </p:nvSpPr>
        <p:spPr>
          <a:xfrm>
            <a:off x="8403336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Písmeno C"/>
          <p:cNvSpPr txBox="1"/>
          <p:nvPr/>
        </p:nvSpPr>
        <p:spPr>
          <a:xfrm>
            <a:off x="8403336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3000" dirty="0"/>
          </a:p>
        </p:txBody>
      </p:sp>
      <p:sp>
        <p:nvSpPr>
          <p:cNvPr id="15" name="Text odpovědi C"/>
          <p:cNvSpPr txBox="1"/>
          <p:nvPr/>
        </p:nvSpPr>
        <p:spPr>
          <a:xfrm>
            <a:off x="9317736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Velký Javorník</a:t>
            </a:r>
            <a:endParaRPr lang="en-US" sz="2400" dirty="0"/>
          </a:p>
        </p:txBody>
      </p:sp>
      <p:sp>
        <p:nvSpPr>
          <p:cNvPr id="17" name="Popisek pozadí"/>
          <p:cNvSpPr txBox="1"/>
          <p:nvPr/>
        </p:nvSpPr>
        <p:spPr>
          <a:xfrm>
            <a:off x="548640" y="6355080"/>
            <a:ext cx="1938528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Beskydy v zimě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OTÁZKA 10 / 10</a:t>
            </a:r>
            <a:endParaRPr lang="en-US" sz="15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22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Který kraj České republiky leží celý na historickém území Moravy?</a:t>
            </a:r>
            <a:endParaRPr lang="en-US" sz="3000" dirty="0"/>
          </a:p>
        </p:txBody>
      </p:sp>
      <p:sp>
        <p:nvSpPr>
          <p:cNvPr id="4" name="Odpověď A"/>
          <p:cNvSpPr/>
          <p:nvPr/>
        </p:nvSpPr>
        <p:spPr>
          <a:xfrm>
            <a:off x="548640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Písmeno A – kruh"/>
          <p:cNvSpPr/>
          <p:nvPr/>
        </p:nvSpPr>
        <p:spPr>
          <a:xfrm>
            <a:off x="822960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Písmeno A"/>
          <p:cNvSpPr txBox="1"/>
          <p:nvPr/>
        </p:nvSpPr>
        <p:spPr>
          <a:xfrm>
            <a:off x="8229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odpovědi A"/>
          <p:cNvSpPr txBox="1"/>
          <p:nvPr/>
        </p:nvSpPr>
        <p:spPr>
          <a:xfrm>
            <a:off x="1737360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Jihomoravský</a:t>
            </a:r>
            <a:endParaRPr lang="en-US" sz="2400" dirty="0"/>
          </a:p>
        </p:txBody>
      </p:sp>
      <p:sp>
        <p:nvSpPr>
          <p:cNvPr id="8" name="Odpověď B"/>
          <p:cNvSpPr/>
          <p:nvPr/>
        </p:nvSpPr>
        <p:spPr>
          <a:xfrm>
            <a:off x="4338828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9" name="Písmeno B – kruh"/>
          <p:cNvSpPr/>
          <p:nvPr/>
        </p:nvSpPr>
        <p:spPr>
          <a:xfrm>
            <a:off x="4613148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ísmeno B"/>
          <p:cNvSpPr txBox="1"/>
          <p:nvPr/>
        </p:nvSpPr>
        <p:spPr>
          <a:xfrm>
            <a:off x="4613148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3000" dirty="0"/>
          </a:p>
        </p:txBody>
      </p:sp>
      <p:sp>
        <p:nvSpPr>
          <p:cNvPr id="11" name="Text odpovědi B"/>
          <p:cNvSpPr txBox="1"/>
          <p:nvPr/>
        </p:nvSpPr>
        <p:spPr>
          <a:xfrm>
            <a:off x="5527548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Olomoucký</a:t>
            </a:r>
            <a:endParaRPr lang="en-US" sz="2400" dirty="0"/>
          </a:p>
        </p:txBody>
      </p:sp>
      <p:sp>
        <p:nvSpPr>
          <p:cNvPr id="12" name="Odpověď C"/>
          <p:cNvSpPr/>
          <p:nvPr/>
        </p:nvSpPr>
        <p:spPr>
          <a:xfrm>
            <a:off x="8129016" y="2880360"/>
            <a:ext cx="3511296" cy="1737360"/>
          </a:xfrm>
          <a:prstGeom prst="roundRect">
            <a:avLst>
              <a:gd name="adj" fmla="val 7368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Písmeno C – kruh"/>
          <p:cNvSpPr/>
          <p:nvPr/>
        </p:nvSpPr>
        <p:spPr>
          <a:xfrm>
            <a:off x="8403336" y="33832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Písmeno C"/>
          <p:cNvSpPr txBox="1"/>
          <p:nvPr/>
        </p:nvSpPr>
        <p:spPr>
          <a:xfrm>
            <a:off x="8403336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3000" dirty="0"/>
          </a:p>
        </p:txBody>
      </p:sp>
      <p:sp>
        <p:nvSpPr>
          <p:cNvPr id="15" name="Text odpovědi C"/>
          <p:cNvSpPr txBox="1"/>
          <p:nvPr/>
        </p:nvSpPr>
        <p:spPr>
          <a:xfrm>
            <a:off x="9317736" y="30632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Zlínský</a:t>
            </a:r>
            <a:endParaRPr lang="en-US" sz="2400" dirty="0"/>
          </a:p>
        </p:txBody>
      </p:sp>
      <p:sp>
        <p:nvSpPr>
          <p:cNvPr id="17" name="Popisek pozadí"/>
          <p:cNvSpPr txBox="1"/>
          <p:nvPr/>
        </p:nvSpPr>
        <p:spPr>
          <a:xfrm>
            <a:off x="548640" y="6355080"/>
            <a:ext cx="2373782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bazilika na Velehradě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108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KVÍZ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Správné odpovědi</a:t>
            </a:r>
            <a:endParaRPr lang="en-US" sz="3600" dirty="0"/>
          </a:p>
        </p:txBody>
      </p:sp>
      <p:sp>
        <p:nvSpPr>
          <p:cNvPr id="4" name="Odpověď 1"/>
          <p:cNvSpPr/>
          <p:nvPr/>
        </p:nvSpPr>
        <p:spPr>
          <a:xfrm>
            <a:off x="548640" y="1508760"/>
            <a:ext cx="3749040" cy="749808"/>
          </a:xfrm>
          <a:prstGeom prst="roundRect">
            <a:avLst>
              <a:gd name="adj" fmla="val 1707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5" name="Číslo otázky 1 – kruh"/>
          <p:cNvSpPr/>
          <p:nvPr/>
        </p:nvSpPr>
        <p:spPr>
          <a:xfrm>
            <a:off x="713232" y="16550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" name="Číslo otázky 1"/>
          <p:cNvSpPr txBox="1"/>
          <p:nvPr/>
        </p:nvSpPr>
        <p:spPr>
          <a:xfrm>
            <a:off x="713232" y="1655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Správná odpověď 1"/>
          <p:cNvSpPr txBox="1"/>
          <p:nvPr/>
        </p:nvSpPr>
        <p:spPr>
          <a:xfrm>
            <a:off x="1325880" y="16550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Zlín</a:t>
            </a:r>
            <a:endParaRPr lang="en-US" sz="1800" dirty="0"/>
          </a:p>
        </p:txBody>
      </p:sp>
      <p:sp>
        <p:nvSpPr>
          <p:cNvPr id="8" name="Odpověď 2"/>
          <p:cNvSpPr/>
          <p:nvPr/>
        </p:nvSpPr>
        <p:spPr>
          <a:xfrm>
            <a:off x="548640" y="2423160"/>
            <a:ext cx="3749040" cy="749808"/>
          </a:xfrm>
          <a:prstGeom prst="roundRect">
            <a:avLst>
              <a:gd name="adj" fmla="val 1707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9" name="Číslo otázky 2 – kruh"/>
          <p:cNvSpPr/>
          <p:nvPr/>
        </p:nvSpPr>
        <p:spPr>
          <a:xfrm>
            <a:off x="713232" y="25694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Číslo otázky 2"/>
          <p:cNvSpPr txBox="1"/>
          <p:nvPr/>
        </p:nvSpPr>
        <p:spPr>
          <a:xfrm>
            <a:off x="713232" y="2569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Správná odpověď 2"/>
          <p:cNvSpPr txBox="1"/>
          <p:nvPr/>
        </p:nvSpPr>
        <p:spPr>
          <a:xfrm>
            <a:off x="1325880" y="25694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Beskydy</a:t>
            </a:r>
            <a:endParaRPr lang="en-US" sz="1800" dirty="0"/>
          </a:p>
        </p:txBody>
      </p:sp>
      <p:sp>
        <p:nvSpPr>
          <p:cNvPr id="12" name="Odpověď 3"/>
          <p:cNvSpPr/>
          <p:nvPr/>
        </p:nvSpPr>
        <p:spPr>
          <a:xfrm>
            <a:off x="548640" y="3337560"/>
            <a:ext cx="3749040" cy="749808"/>
          </a:xfrm>
          <a:prstGeom prst="roundRect">
            <a:avLst>
              <a:gd name="adj" fmla="val 1707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3" name="Číslo otázky 3 – kruh"/>
          <p:cNvSpPr/>
          <p:nvPr/>
        </p:nvSpPr>
        <p:spPr>
          <a:xfrm>
            <a:off x="713232" y="3483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Číslo otázky 3"/>
          <p:cNvSpPr txBox="1"/>
          <p:nvPr/>
        </p:nvSpPr>
        <p:spPr>
          <a:xfrm>
            <a:off x="713232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Správná odpověď 3"/>
          <p:cNvSpPr txBox="1"/>
          <p:nvPr/>
        </p:nvSpPr>
        <p:spPr>
          <a:xfrm>
            <a:off x="1325880" y="34838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Baťa</a:t>
            </a:r>
            <a:endParaRPr lang="en-US" sz="1800" dirty="0"/>
          </a:p>
        </p:txBody>
      </p:sp>
      <p:sp>
        <p:nvSpPr>
          <p:cNvPr id="16" name="Odpověď 4"/>
          <p:cNvSpPr/>
          <p:nvPr/>
        </p:nvSpPr>
        <p:spPr>
          <a:xfrm>
            <a:off x="548640" y="4251960"/>
            <a:ext cx="3749040" cy="749808"/>
          </a:xfrm>
          <a:prstGeom prst="roundRect">
            <a:avLst>
              <a:gd name="adj" fmla="val 1707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17" name="Číslo otázky 4 – kruh"/>
          <p:cNvSpPr/>
          <p:nvPr/>
        </p:nvSpPr>
        <p:spPr>
          <a:xfrm>
            <a:off x="713232" y="43982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Číslo otázky 4"/>
          <p:cNvSpPr txBox="1"/>
          <p:nvPr/>
        </p:nvSpPr>
        <p:spPr>
          <a:xfrm>
            <a:off x="713232" y="4398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Správná odpověď 4"/>
          <p:cNvSpPr txBox="1"/>
          <p:nvPr/>
        </p:nvSpPr>
        <p:spPr>
          <a:xfrm>
            <a:off x="1325880" y="43982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Morava</a:t>
            </a:r>
            <a:endParaRPr lang="en-US" sz="1800" dirty="0"/>
          </a:p>
        </p:txBody>
      </p:sp>
      <p:sp>
        <p:nvSpPr>
          <p:cNvPr id="20" name="Odpověď 5"/>
          <p:cNvSpPr/>
          <p:nvPr/>
        </p:nvSpPr>
        <p:spPr>
          <a:xfrm>
            <a:off x="548640" y="5166360"/>
            <a:ext cx="3749040" cy="749808"/>
          </a:xfrm>
          <a:prstGeom prst="roundRect">
            <a:avLst>
              <a:gd name="adj" fmla="val 1707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1" name="Číslo otázky 5 – kruh"/>
          <p:cNvSpPr/>
          <p:nvPr/>
        </p:nvSpPr>
        <p:spPr>
          <a:xfrm>
            <a:off x="713232" y="53126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Číslo otázky 5"/>
          <p:cNvSpPr txBox="1"/>
          <p:nvPr/>
        </p:nvSpPr>
        <p:spPr>
          <a:xfrm>
            <a:off x="713232" y="5312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Správná odpověď 5"/>
          <p:cNvSpPr txBox="1"/>
          <p:nvPr/>
        </p:nvSpPr>
        <p:spPr>
          <a:xfrm>
            <a:off x="1325880" y="53126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Zámek Kroměříž</a:t>
            </a:r>
            <a:endParaRPr lang="en-US" sz="1800" dirty="0"/>
          </a:p>
        </p:txBody>
      </p:sp>
      <p:sp>
        <p:nvSpPr>
          <p:cNvPr id="24" name="Odpověď 6"/>
          <p:cNvSpPr/>
          <p:nvPr/>
        </p:nvSpPr>
        <p:spPr>
          <a:xfrm>
            <a:off x="4526280" y="1508760"/>
            <a:ext cx="3749040" cy="749808"/>
          </a:xfrm>
          <a:prstGeom prst="roundRect">
            <a:avLst>
              <a:gd name="adj" fmla="val 1707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5" name="Číslo otázky 6 – kruh"/>
          <p:cNvSpPr/>
          <p:nvPr/>
        </p:nvSpPr>
        <p:spPr>
          <a:xfrm>
            <a:off x="4690872" y="16550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6" name="Číslo otázky 6"/>
          <p:cNvSpPr txBox="1"/>
          <p:nvPr/>
        </p:nvSpPr>
        <p:spPr>
          <a:xfrm>
            <a:off x="4690872" y="1655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7" name="Správná odpověď 6"/>
          <p:cNvSpPr txBox="1"/>
          <p:nvPr/>
        </p:nvSpPr>
        <p:spPr>
          <a:xfrm>
            <a:off x="5303520" y="16550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Svatý Hostýn</a:t>
            </a:r>
            <a:endParaRPr lang="en-US" sz="1800" dirty="0"/>
          </a:p>
        </p:txBody>
      </p:sp>
      <p:sp>
        <p:nvSpPr>
          <p:cNvPr id="28" name="Odpověď 7"/>
          <p:cNvSpPr/>
          <p:nvPr/>
        </p:nvSpPr>
        <p:spPr>
          <a:xfrm>
            <a:off x="4526280" y="2423160"/>
            <a:ext cx="3749040" cy="749808"/>
          </a:xfrm>
          <a:prstGeom prst="roundRect">
            <a:avLst>
              <a:gd name="adj" fmla="val 1707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29" name="Číslo otázky 7 – kruh"/>
          <p:cNvSpPr/>
          <p:nvPr/>
        </p:nvSpPr>
        <p:spPr>
          <a:xfrm>
            <a:off x="4690872" y="25694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Číslo otázky 7"/>
          <p:cNvSpPr txBox="1"/>
          <p:nvPr/>
        </p:nvSpPr>
        <p:spPr>
          <a:xfrm>
            <a:off x="4690872" y="2569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31" name="Správná odpověď 7"/>
          <p:cNvSpPr txBox="1"/>
          <p:nvPr/>
        </p:nvSpPr>
        <p:spPr>
          <a:xfrm>
            <a:off x="5303520" y="25694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4 okresy</a:t>
            </a:r>
            <a:endParaRPr lang="en-US" sz="1800" dirty="0"/>
          </a:p>
        </p:txBody>
      </p:sp>
      <p:sp>
        <p:nvSpPr>
          <p:cNvPr id="32" name="Odpověď 8"/>
          <p:cNvSpPr/>
          <p:nvPr/>
        </p:nvSpPr>
        <p:spPr>
          <a:xfrm>
            <a:off x="4526280" y="3337560"/>
            <a:ext cx="3749040" cy="749808"/>
          </a:xfrm>
          <a:prstGeom prst="roundRect">
            <a:avLst>
              <a:gd name="adj" fmla="val 1707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33" name="Číslo otázky 8 – kruh"/>
          <p:cNvSpPr/>
          <p:nvPr/>
        </p:nvSpPr>
        <p:spPr>
          <a:xfrm>
            <a:off x="4690872" y="3483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4" name="Číslo otázky 8"/>
          <p:cNvSpPr txBox="1"/>
          <p:nvPr/>
        </p:nvSpPr>
        <p:spPr>
          <a:xfrm>
            <a:off x="4690872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35" name="Správná odpověď 8"/>
          <p:cNvSpPr txBox="1"/>
          <p:nvPr/>
        </p:nvSpPr>
        <p:spPr>
          <a:xfrm>
            <a:off x="5303520" y="34838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B) 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Zoo Zlín-Lešná</a:t>
            </a:r>
            <a:endParaRPr lang="en-US" sz="1800" dirty="0"/>
          </a:p>
        </p:txBody>
      </p:sp>
      <p:sp>
        <p:nvSpPr>
          <p:cNvPr id="36" name="Odpověď 9"/>
          <p:cNvSpPr/>
          <p:nvPr/>
        </p:nvSpPr>
        <p:spPr>
          <a:xfrm>
            <a:off x="4526280" y="4251960"/>
            <a:ext cx="3749040" cy="749808"/>
          </a:xfrm>
          <a:prstGeom prst="roundRect">
            <a:avLst>
              <a:gd name="adj" fmla="val 1707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37" name="Číslo otázky 9 – kruh"/>
          <p:cNvSpPr/>
          <p:nvPr/>
        </p:nvSpPr>
        <p:spPr>
          <a:xfrm>
            <a:off x="4690872" y="43982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8" name="Číslo otázky 9"/>
          <p:cNvSpPr txBox="1"/>
          <p:nvPr/>
        </p:nvSpPr>
        <p:spPr>
          <a:xfrm>
            <a:off x="4690872" y="4398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sp>
        <p:nvSpPr>
          <p:cNvPr id="39" name="Správná odpověď 9"/>
          <p:cNvSpPr txBox="1"/>
          <p:nvPr/>
        </p:nvSpPr>
        <p:spPr>
          <a:xfrm>
            <a:off x="5303520" y="43982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A) 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Čertův mlýn</a:t>
            </a:r>
            <a:endParaRPr lang="en-US" sz="1800" dirty="0"/>
          </a:p>
        </p:txBody>
      </p:sp>
      <p:sp>
        <p:nvSpPr>
          <p:cNvPr id="40" name="Odpověď 10"/>
          <p:cNvSpPr/>
          <p:nvPr/>
        </p:nvSpPr>
        <p:spPr>
          <a:xfrm>
            <a:off x="4526280" y="5166360"/>
            <a:ext cx="3749040" cy="749808"/>
          </a:xfrm>
          <a:prstGeom prst="roundRect">
            <a:avLst>
              <a:gd name="adj" fmla="val 17073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27000" dist="38100" dir="5400000">
              <a:srgbClr val="1F2A24">
                <a:alpha val="16000"/>
              </a:srgbClr>
            </a:outerShdw>
          </a:effectLst>
        </p:spPr>
      </p:sp>
      <p:sp>
        <p:nvSpPr>
          <p:cNvPr id="41" name="Číslo otázky 10 – kruh"/>
          <p:cNvSpPr/>
          <p:nvPr/>
        </p:nvSpPr>
        <p:spPr>
          <a:xfrm>
            <a:off x="4690872" y="53126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2" name="Číslo otázky 10"/>
          <p:cNvSpPr txBox="1"/>
          <p:nvPr/>
        </p:nvSpPr>
        <p:spPr>
          <a:xfrm>
            <a:off x="4690872" y="5312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</a:t>
            </a:r>
            <a:endParaRPr lang="en-US" sz="1600" dirty="0"/>
          </a:p>
        </p:txBody>
      </p:sp>
      <p:sp>
        <p:nvSpPr>
          <p:cNvPr id="43" name="Správná odpověď 10"/>
          <p:cNvSpPr txBox="1"/>
          <p:nvPr/>
        </p:nvSpPr>
        <p:spPr>
          <a:xfrm>
            <a:off x="5303520" y="53126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C) 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Zlínský</a:t>
            </a:r>
            <a:endParaRPr lang="en-US" sz="1800" dirty="0"/>
          </a:p>
        </p:txBody>
      </p:sp>
      <p:sp>
        <p:nvSpPr>
          <p:cNvPr id="44" name="Popisek pozadí"/>
          <p:cNvSpPr txBox="1"/>
          <p:nvPr/>
        </p:nvSpPr>
        <p:spPr>
          <a:xfrm>
            <a:off x="548640" y="6355080"/>
            <a:ext cx="2560320" cy="310896"/>
          </a:xfrm>
          <a:prstGeom prst="roundRect">
            <a:avLst>
              <a:gd name="adj" fmla="val 50000"/>
            </a:avLst>
          </a:prstGeom>
          <a:solidFill>
            <a:schemeClr val="bg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Na pozadí: slovácký lidový ornament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28832" y="6355080"/>
            <a:ext cx="438912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línský kraj">
  <a:themeElements>
    <a:clrScheme name="Zlínský kraj">
      <a:dk1>
        <a:srgbClr val="1F2A24"/>
      </a:dk1>
      <a:lt1>
        <a:srgbClr val="FFFFFF"/>
      </a:lt1>
      <a:dk2>
        <a:srgbClr val="24513A"/>
      </a:dk2>
      <a:lt2>
        <a:srgbClr val="EAF1EA"/>
      </a:lt2>
      <a:accent1>
        <a:srgbClr val="B8322A"/>
      </a:accent1>
      <a:accent2>
        <a:srgbClr val="D9A21B"/>
      </a:accent2>
      <a:accent3>
        <a:srgbClr val="2F6FA8"/>
      </a:accent3>
      <a:accent4>
        <a:srgbClr val="3B8B3E"/>
      </a:accent4>
      <a:accent5>
        <a:srgbClr val="7A4B2A"/>
      </a:accent5>
      <a:accent6>
        <a:srgbClr val="6B7B83"/>
      </a:accent6>
      <a:hlink>
        <a:srgbClr val="2F6FA8"/>
      </a:hlink>
      <a:folHlink>
        <a:srgbClr val="7A4B2A"/>
      </a:folHlink>
    </a:clrScheme>
    <a:fontScheme name="Zlínský kraj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Zlínský kraj</dc:title>
  <dc:subject>Prezentace o Zlínském kraji</dc:subject>
  <dc:creator>PptxGenJS</dc:creator>
  <cp:lastModifiedBy>PptxGenJS</cp:lastModifiedBy>
  <cp:revision>1</cp:revision>
  <dcterms:created xsi:type="dcterms:W3CDTF">2026-10-04T12:53:07Z</dcterms:created>
  <dcterms:modified xsi:type="dcterms:W3CDTF">2026-10-04T12:53:07Z</dcterms:modified>
</cp:coreProperties>
</file>